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4"/>
  </p:notesMasterIdLst>
  <p:sldIdLst>
    <p:sldId id="283" r:id="rId2"/>
    <p:sldId id="284" r:id="rId3"/>
    <p:sldId id="285" r:id="rId4"/>
    <p:sldId id="286" r:id="rId5"/>
    <p:sldId id="288" r:id="rId6"/>
    <p:sldId id="291" r:id="rId7"/>
    <p:sldId id="292" r:id="rId8"/>
    <p:sldId id="290" r:id="rId9"/>
    <p:sldId id="298" r:id="rId10"/>
    <p:sldId id="299" r:id="rId11"/>
    <p:sldId id="294" r:id="rId12"/>
    <p:sldId id="30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9D613D-7F9B-4E42-A6ED-9695358EDB07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8E12E-B280-448E-A0C4-0A3A5F7CDE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261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15A2-30B3-416A-BAD5-95B1BE314A54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718197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F0890-C51C-4616-BA92-31E98ECE5B68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295061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64D2E-4112-4938-891A-6F3A791DFF66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913848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164B3-E779-4292-BEF5-D8CEC6D821A0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9612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9A13E-91ED-4F6D-BBD4-F3D60BCC2C98}" type="datetime1">
              <a:rPr lang="ru-RU" smtClean="0"/>
              <a:t>28.05.2026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61553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1224B-DFC9-4FEB-8691-D4DF460BE9AB}" type="datetime1">
              <a:rPr lang="ru-RU" smtClean="0"/>
              <a:t>28.05.2026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626980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4754D-5A89-4538-B4B0-681B83032999}" type="datetime1">
              <a:rPr lang="ru-RU" smtClean="0"/>
              <a:t>28.05.2026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789014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CE03C-B778-4234-AF27-27A7E8676B7F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711692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656DA-8ADC-4140-8391-C5372C970DDA}" type="datetime1">
              <a:rPr lang="ru-RU" smtClean="0"/>
              <a:t>28.05.2026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28927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4D6D-E951-4260-98B9-66D920AA0D79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266672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0E25A-81F6-4E06-8056-5EE8F0636AA9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40796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7DFDD-7F61-483E-A380-F061898845E2}" type="datetime1">
              <a:rPr lang="ru-RU" smtClean="0"/>
              <a:t>28.05.2026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62FB6-5D41-4B3D-BD8B-8E2B9EA26C8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58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 dir="u"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>
          <a:xfrm>
            <a:off x="685800" y="1645921"/>
            <a:ext cx="7772400" cy="538798"/>
          </a:xfrm>
        </p:spPr>
        <p:txBody>
          <a:bodyPr>
            <a:normAutofit fontScale="90000"/>
          </a:bodyPr>
          <a:lstStyle/>
          <a:p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600" dirty="0"/>
          </a:p>
        </p:txBody>
      </p:sp>
      <p:sp>
        <p:nvSpPr>
          <p:cNvPr id="8" name="Подзаголовок 7"/>
          <p:cNvSpPr>
            <a:spLocks noGrp="1"/>
          </p:cNvSpPr>
          <p:nvPr>
            <p:ph type="subTitle" idx="1"/>
          </p:nvPr>
        </p:nvSpPr>
        <p:spPr>
          <a:xfrm>
            <a:off x="1143000" y="2184719"/>
            <a:ext cx="6858000" cy="165576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 09.04.04 «Программная инженерия», группа 21ПГ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на тему: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программного обеспечения подсистемы «Контроль и учет посещаемости и работы студентов на занятиях» для сайта ОГУ им. И.С. Тургенева»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одзаголовок 5"/>
          <p:cNvSpPr txBox="1">
            <a:spLocks/>
          </p:cNvSpPr>
          <p:nvPr/>
        </p:nvSpPr>
        <p:spPr>
          <a:xfrm>
            <a:off x="2021305" y="4651781"/>
            <a:ext cx="6858000" cy="14095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студент: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Василения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И.В.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к.т.н., доцент кафедры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ИСиЦТ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Ужаринский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А.Ю.</a:t>
            </a:r>
          </a:p>
        </p:txBody>
      </p:sp>
      <p:sp>
        <p:nvSpPr>
          <p:cNvPr id="9" name="Подзаголовок 7"/>
          <p:cNvSpPr txBox="1">
            <a:spLocks/>
          </p:cNvSpPr>
          <p:nvPr/>
        </p:nvSpPr>
        <p:spPr>
          <a:xfrm>
            <a:off x="0" y="11325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ВЫСШЕГО ОБРАЗОВАНИЯ И НАУКИ РОССИЙСКОЙ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ФЕДЕРАЦИИ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 «ОРЛОВСКИЙ ГОСУДАРСТВЕННЫЙ УНИВЕРСИТЕТ ИМЕНИ И.С. ТУРГЕНЕВА»</a:t>
            </a:r>
          </a:p>
        </p:txBody>
      </p:sp>
      <p:sp>
        <p:nvSpPr>
          <p:cNvPr id="10" name="Подзаголовок 5"/>
          <p:cNvSpPr txBox="1">
            <a:spLocks/>
          </p:cNvSpPr>
          <p:nvPr/>
        </p:nvSpPr>
        <p:spPr>
          <a:xfrm>
            <a:off x="3916279" y="6205735"/>
            <a:ext cx="1311442" cy="4202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Орел 2026</a:t>
            </a:r>
          </a:p>
        </p:txBody>
      </p:sp>
    </p:spTree>
    <p:extLst>
      <p:ext uri="{BB962C8B-B14F-4D97-AF65-F5344CB8AC3E}">
        <p14:creationId xmlns:p14="http://schemas.microsoft.com/office/powerpoint/2010/main" val="3929872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729359" y="567269"/>
            <a:ext cx="56852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342892"/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	Цель выпускной квалификационной работы: 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улучшение существующей системы </a:t>
            </a:r>
            <a:r>
              <a:rPr lang="ru-RU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цифровизации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процесса заполнения журнала обучения преподавателями ОГУ имени И.С. Тургенева для прекращения использования бумажного носителя. 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729359" y="3184186"/>
            <a:ext cx="568528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37652" algn="just"/>
            <a:r>
              <a:rPr lang="ru-RU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Задачами, которые необходимо выполнить для достижения поставленной цели, являются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257168" indent="-257168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Провести анализ решаемой проблемы, методов и средств ее решения, сформулировать задачи исследования и требования к разработке.</a:t>
            </a:r>
          </a:p>
          <a:p>
            <a:pPr marL="257168" indent="-257168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Провести теоретические исследования и определить спецификации программного обеспечения.</a:t>
            </a:r>
          </a:p>
          <a:p>
            <a:pPr marL="257168" indent="-257168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Спроектировать программное обеспечение.</a:t>
            </a:r>
          </a:p>
          <a:p>
            <a:pPr marL="257168" indent="-257168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макет программных компонентов или экспериментального образца программного обеспечения.</a:t>
            </a:r>
          </a:p>
          <a:p>
            <a:pPr marL="257168" indent="-257168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Организовать процесс разработки программного обеспечения.</a:t>
            </a:r>
          </a:p>
        </p:txBody>
      </p:sp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7FBE9-CF4D-418B-A662-82E90D5F6E3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8246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существующих методов решения поставленной задачи</a:t>
            </a:r>
          </a:p>
        </p:txBody>
      </p:sp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3</a:t>
            </a:fld>
            <a:endParaRPr lang="ru-RU"/>
          </a:p>
        </p:txBody>
      </p:sp>
      <p:pic>
        <p:nvPicPr>
          <p:cNvPr id="11" name="Рисунок 10" descr="Последовательность, журнал">
            <a:extLst>
              <a:ext uri="{FF2B5EF4-FFF2-40B4-BE49-F238E27FC236}">
                <a16:creationId xmlns:a16="http://schemas.microsoft.com/office/drawing/2014/main" id="{DA94D8A8-BE14-8C62-064C-E133AF1AC4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26" y="1140002"/>
            <a:ext cx="3126157" cy="4525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Рисунок 11" descr="Последовательность, журнал-Электронный">
            <a:extLst>
              <a:ext uri="{FF2B5EF4-FFF2-40B4-BE49-F238E27FC236}">
                <a16:creationId xmlns:a16="http://schemas.microsoft.com/office/drawing/2014/main" id="{900A62E9-FFEC-82A8-2707-F0CA57E67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450" y="1752776"/>
            <a:ext cx="3084251" cy="33524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52AA96-8F66-4AF6-9D32-8C3D2AF079DE}"/>
              </a:ext>
            </a:extLst>
          </p:cNvPr>
          <p:cNvSpPr txBox="1"/>
          <p:nvPr/>
        </p:nvSpPr>
        <p:spPr>
          <a:xfrm>
            <a:off x="628650" y="5839641"/>
            <a:ext cx="3870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Рисунок 1 – Ручной сбор статистики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F95BBB-5372-44C4-F73E-6DADE064D8F1}"/>
              </a:ext>
            </a:extLst>
          </p:cNvPr>
          <p:cNvSpPr txBox="1"/>
          <p:nvPr/>
        </p:nvSpPr>
        <p:spPr>
          <a:xfrm>
            <a:off x="4672513" y="5839641"/>
            <a:ext cx="3870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Рисунок 2 – Сбор статистики с использование подсистемы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498707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618565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аналогичных решений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4</a:t>
            </a:fld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7247965" y="4954465"/>
            <a:ext cx="18960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/>
              <a:t>+ - наличие возможности 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7247964" y="5771578"/>
            <a:ext cx="18960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/>
              <a:t>–  - отсутствие возможности.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FDD4F287-977C-829A-8ECD-69963A498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433096"/>
              </p:ext>
            </p:extLst>
          </p:nvPr>
        </p:nvGraphicFramePr>
        <p:xfrm>
          <a:off x="479795" y="624889"/>
          <a:ext cx="7006855" cy="59760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3263">
                  <a:extLst>
                    <a:ext uri="{9D8B030D-6E8A-4147-A177-3AD203B41FA5}">
                      <a16:colId xmlns:a16="http://schemas.microsoft.com/office/drawing/2014/main" val="2492637552"/>
                    </a:ext>
                  </a:extLst>
                </a:gridCol>
                <a:gridCol w="712562">
                  <a:extLst>
                    <a:ext uri="{9D8B030D-6E8A-4147-A177-3AD203B41FA5}">
                      <a16:colId xmlns:a16="http://schemas.microsoft.com/office/drawing/2014/main" val="429494356"/>
                    </a:ext>
                  </a:extLst>
                </a:gridCol>
                <a:gridCol w="1484503">
                  <a:extLst>
                    <a:ext uri="{9D8B030D-6E8A-4147-A177-3AD203B41FA5}">
                      <a16:colId xmlns:a16="http://schemas.microsoft.com/office/drawing/2014/main" val="1537820939"/>
                    </a:ext>
                  </a:extLst>
                </a:gridCol>
                <a:gridCol w="1499348">
                  <a:extLst>
                    <a:ext uri="{9D8B030D-6E8A-4147-A177-3AD203B41FA5}">
                      <a16:colId xmlns:a16="http://schemas.microsoft.com/office/drawing/2014/main" val="2012032171"/>
                    </a:ext>
                  </a:extLst>
                </a:gridCol>
                <a:gridCol w="1707179">
                  <a:extLst>
                    <a:ext uri="{9D8B030D-6E8A-4147-A177-3AD203B41FA5}">
                      <a16:colId xmlns:a16="http://schemas.microsoft.com/office/drawing/2014/main" val="1386154734"/>
                    </a:ext>
                  </a:extLst>
                </a:gridCol>
              </a:tblGrid>
              <a:tr h="60702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 dirty="0">
                          <a:effectLst/>
                        </a:rPr>
                        <a:t>Критерии сравнения</a:t>
                      </a:r>
                      <a:endParaRPr lang="ru-RU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Moodle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1С: Электронный журнал колледжа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Существующая система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Разрабатываемое решение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3581842494"/>
                  </a:ext>
                </a:extLst>
              </a:tr>
              <a:tr h="5665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Проставление отметок о посещении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3351649579"/>
                  </a:ext>
                </a:extLst>
              </a:tr>
              <a:tr h="41493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Просмотр отметок студентами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2727971106"/>
                  </a:ext>
                </a:extLst>
              </a:tr>
              <a:tr h="5665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Проставление отметок о сдаче работ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674000113"/>
                  </a:ext>
                </a:extLst>
              </a:tr>
              <a:tr h="5665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Добавление комментария к занятию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4223716219"/>
                  </a:ext>
                </a:extLst>
              </a:tr>
              <a:tr h="5665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Групповое проставление отметок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2411515100"/>
                  </a:ext>
                </a:extLst>
              </a:tr>
              <a:tr h="754206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Автоматический вывод текущего занятия преподавателя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619555368"/>
                  </a:ext>
                </a:extLst>
              </a:tr>
              <a:tr h="5665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Автоматическое формирование списков групп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379055900"/>
                  </a:ext>
                </a:extLst>
              </a:tr>
              <a:tr h="3788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Троичная логика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+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1077231980"/>
                  </a:ext>
                </a:extLst>
              </a:tr>
              <a:tr h="37881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1400" u="none" strike="noStrike">
                          <a:effectLst/>
                        </a:rPr>
                        <a:t>Разделение на подгруппы</a:t>
                      </a:r>
                      <a:endParaRPr lang="ru-RU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 dirty="0">
                          <a:effectLst/>
                        </a:rPr>
                        <a:t>+</a:t>
                      </a:r>
                      <a:endParaRPr lang="ru-RU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>
                          <a:effectLst/>
                        </a:rPr>
                        <a:t>-</a:t>
                      </a:r>
                      <a:endParaRPr lang="ru-RU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ru-RU" sz="2800" u="none" strike="noStrike" dirty="0">
                          <a:effectLst/>
                        </a:rPr>
                        <a:t>+</a:t>
                      </a:r>
                      <a:endParaRPr lang="ru-RU" sz="2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3889" marR="3889" marT="3889" marB="0" anchor="ctr"/>
                </a:tc>
                <a:extLst>
                  <a:ext uri="{0D108BD9-81ED-4DB2-BD59-A6C34878D82A}">
                    <a16:rowId xmlns:a16="http://schemas.microsoft.com/office/drawing/2014/main" val="2818931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111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618565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требования 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5</a:t>
            </a:fld>
            <a:endParaRPr lang="ru-RU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446" y="703661"/>
            <a:ext cx="1171373" cy="11737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88798" y="1959431"/>
            <a:ext cx="1171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Доступ через личный кабинет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2591" y="703661"/>
            <a:ext cx="1204458" cy="11737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68420" y="1959430"/>
            <a:ext cx="11713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Защищенный доступ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9237" y="618567"/>
            <a:ext cx="1228343" cy="12283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16207" y="1950411"/>
            <a:ext cx="1171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 err="1"/>
              <a:t>Логирование</a:t>
            </a:r>
            <a:r>
              <a:rPr lang="ru-RU" sz="1200" dirty="0"/>
              <a:t> изменений в БД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454" y="2698984"/>
            <a:ext cx="1172975" cy="1172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44159" y="3927330"/>
            <a:ext cx="16645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Проставление, изменение, удаление отметок о посещаемости занятий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605" y="2731752"/>
            <a:ext cx="1172975" cy="1172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39310" y="3960095"/>
            <a:ext cx="16645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Проставление, изменение, удаление оценок о сдаче работ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291" y="2700243"/>
            <a:ext cx="1314471" cy="12044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940339" y="3977714"/>
            <a:ext cx="16645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Добавление, изменение комментария к занятию</a:t>
            </a:r>
          </a:p>
        </p:txBody>
      </p:sp>
      <p:pic>
        <p:nvPicPr>
          <p:cNvPr id="1028" name="Picture 4" descr="Статистика – Бесплатные иконки: бизнес">
            <a:extLst>
              <a:ext uri="{FF2B5EF4-FFF2-40B4-BE49-F238E27FC236}">
                <a16:creationId xmlns:a16="http://schemas.microsoft.com/office/drawing/2014/main" id="{65DE234D-8AB7-8F0A-3960-CCA618C0A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8709" y="4808711"/>
            <a:ext cx="1337569" cy="133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8E73119-0ADF-3979-609D-A4640F2D61BE}"/>
              </a:ext>
            </a:extLst>
          </p:cNvPr>
          <p:cNvSpPr txBox="1"/>
          <p:nvPr/>
        </p:nvSpPr>
        <p:spPr>
          <a:xfrm>
            <a:off x="3640391" y="6154339"/>
            <a:ext cx="21709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Просмотр статистики</a:t>
            </a:r>
          </a:p>
        </p:txBody>
      </p:sp>
    </p:spTree>
    <p:extLst>
      <p:ext uri="{BB962C8B-B14F-4D97-AF65-F5344CB8AC3E}">
        <p14:creationId xmlns:p14="http://schemas.microsoft.com/office/powerpoint/2010/main" val="2425932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618565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Функциональная модель подсистемы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6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15C44F8-B2D7-68DB-AA5C-86D9CBE37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70" y="1153859"/>
            <a:ext cx="8771860" cy="455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692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618565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Информационная спецификация подсистемы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7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5628FA-9C76-0A9A-01AA-18C8D61B90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33" y="763480"/>
            <a:ext cx="7734717" cy="54378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5528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8</a:t>
            </a:fld>
            <a:endParaRPr lang="ru-RU"/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628650" y="2"/>
            <a:ext cx="7886700" cy="61856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подсистемы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18462A-08AA-C6F9-285E-7C2246EC9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337" y="681037"/>
            <a:ext cx="7553325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29955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4D12D-C929-49F4-876E-681D441D1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3FDBA77-D7BE-30A9-4164-527BAC27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9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ECBC7E8-E609-D1C0-6ED0-FE21D5242256}"/>
              </a:ext>
            </a:extLst>
          </p:cNvPr>
          <p:cNvSpPr txBox="1">
            <a:spLocks/>
          </p:cNvSpPr>
          <p:nvPr/>
        </p:nvSpPr>
        <p:spPr>
          <a:xfrm>
            <a:off x="628650" y="2"/>
            <a:ext cx="7886700" cy="61856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Поведенческая спецификация подсистемы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EA31BC0-6F80-2F30-47F6-85DE0202A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783" y="1550770"/>
            <a:ext cx="7549567" cy="37564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114053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C96BF-47D5-2CBF-75A3-B2FFFDC0C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584EC-BAEC-8E3C-E0DA-596639A23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34499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алгоритма поиска нужного занятия на текущий момент времени, либо по указанному номеру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E13F4D6E-4DAE-A284-8124-E6302AD62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10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54F1AB-D4F3-C0C9-FDD5-77DACEF33B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723" y="834501"/>
            <a:ext cx="3352554" cy="5886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028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618565"/>
          </a:xfrm>
        </p:spPr>
        <p:txBody>
          <a:bodyPr>
            <a:norm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Интерфейсы разрабатываемой системы</a:t>
            </a: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11</a:t>
            </a:fld>
            <a:endParaRPr lang="ru-RU"/>
          </a:p>
        </p:txBody>
      </p:sp>
      <p:pic>
        <p:nvPicPr>
          <p:cNvPr id="6" name="Рисунок 5"/>
          <p:cNvPicPr/>
          <p:nvPr/>
        </p:nvPicPr>
        <p:blipFill>
          <a:blip r:embed="rId2"/>
          <a:stretch>
            <a:fillRect/>
          </a:stretch>
        </p:blipFill>
        <p:spPr>
          <a:xfrm>
            <a:off x="950167" y="1013970"/>
            <a:ext cx="2569211" cy="2319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0FBB63A-E80D-FA9E-C85F-25B2A5C24B8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519378" y="1013970"/>
            <a:ext cx="3464398" cy="206410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6ED9766-D761-C0CA-959E-20D8A404895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60459" y="3429000"/>
            <a:ext cx="2569211" cy="20710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2103E7A-E4CF-69AD-D106-65B9FF16DF82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429670" y="4661721"/>
            <a:ext cx="3178852" cy="1118049"/>
          </a:xfrm>
          <a:prstGeom prst="rect">
            <a:avLst/>
          </a:prstGeom>
        </p:spPr>
      </p:pic>
      <p:pic>
        <p:nvPicPr>
          <p:cNvPr id="10" name="Объект 4">
            <a:extLst>
              <a:ext uri="{FF2B5EF4-FFF2-40B4-BE49-F238E27FC236}">
                <a16:creationId xmlns:a16="http://schemas.microsoft.com/office/drawing/2014/main" id="{3A7B2D55-1F0F-607B-AF3C-F6CE73F9C79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3429670" y="3486336"/>
            <a:ext cx="3228404" cy="111804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C6C2ACA-CF75-8F3E-7600-2C27846CBA6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212" y="1409276"/>
            <a:ext cx="1502138" cy="33375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3250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49BF2-3191-BB90-CB8F-20279E686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97D7B8-A329-824C-C9EB-DD1D84F9C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62FB6-5D41-4B3D-BD8B-8E2B9EA26C81}" type="slidenum">
              <a:rPr lang="ru-RU" smtClean="0"/>
              <a:t>12</a:t>
            </a:fld>
            <a:endParaRPr lang="ru-RU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350042D6-CABD-075E-594F-EACD72B7AD9A}"/>
              </a:ext>
            </a:extLst>
          </p:cNvPr>
          <p:cNvSpPr txBox="1">
            <a:spLocks/>
          </p:cNvSpPr>
          <p:nvPr/>
        </p:nvSpPr>
        <p:spPr>
          <a:xfrm>
            <a:off x="628650" y="2"/>
            <a:ext cx="7886700" cy="6185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результатов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C5F8A0C8-B366-C133-FBFD-C23E41601167}"/>
              </a:ext>
            </a:extLst>
          </p:cNvPr>
          <p:cNvSpPr txBox="1">
            <a:spLocks/>
          </p:cNvSpPr>
          <p:nvPr/>
        </p:nvSpPr>
        <p:spPr>
          <a:xfrm>
            <a:off x="628650" y="951392"/>
            <a:ext cx="8151366" cy="52008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Внедрение разработанной подсистемы позволило получить следующие улучшения по сравнению с существующей системой учета посещаемости: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Благодаря реализации автоматического выбора занятия по текущему времени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 троичной логики и логирования событий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Разделение на подгруппы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надежности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98878471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1896</TotalTime>
  <Words>412</Words>
  <Application>Microsoft Office PowerPoint</Application>
  <PresentationFormat>Экран (4:3)</PresentationFormat>
  <Paragraphs>108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    </vt:lpstr>
      <vt:lpstr>Презентация PowerPoint</vt:lpstr>
      <vt:lpstr>Анализ существующих методов решения поставленной задачи</vt:lpstr>
      <vt:lpstr>Сравнение аналогичных решений</vt:lpstr>
      <vt:lpstr>Функциональные требования </vt:lpstr>
      <vt:lpstr>Функциональная модель подсистемы</vt:lpstr>
      <vt:lpstr>Информационная спецификация подсистемы</vt:lpstr>
      <vt:lpstr>Презентация PowerPoint</vt:lpstr>
      <vt:lpstr>Презентация PowerPoint</vt:lpstr>
      <vt:lpstr>Схема алгоритма поиска нужного занятия на текущий момент времени, либо по указанному номеру</vt:lpstr>
      <vt:lpstr>Интерфейсы разрабатываемой системы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</dc:title>
  <dc:creator>alexandr korotkiy</dc:creator>
  <cp:lastModifiedBy>Ivan Vasileniya</cp:lastModifiedBy>
  <cp:revision>52</cp:revision>
  <dcterms:created xsi:type="dcterms:W3CDTF">2023-05-23T11:47:02Z</dcterms:created>
  <dcterms:modified xsi:type="dcterms:W3CDTF">2026-05-28T16:28:14Z</dcterms:modified>
</cp:coreProperties>
</file>