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83" r:id="rId2"/>
    <p:sldId id="284" r:id="rId3"/>
    <p:sldId id="289" r:id="rId4"/>
    <p:sldId id="285" r:id="rId5"/>
    <p:sldId id="286" r:id="rId6"/>
    <p:sldId id="288" r:id="rId7"/>
    <p:sldId id="291" r:id="rId8"/>
    <p:sldId id="292" r:id="rId9"/>
    <p:sldId id="290" r:id="rId10"/>
    <p:sldId id="293" r:id="rId11"/>
    <p:sldId id="294" r:id="rId12"/>
    <p:sldId id="295" r:id="rId13"/>
    <p:sldId id="296" r:id="rId14"/>
    <p:sldId id="29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6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D613D-7F9B-4E42-A6ED-9695358EDB07}" type="datetimeFigureOut">
              <a:rPr lang="ru-RU" smtClean="0"/>
              <a:t>26.03.2026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8E12E-B280-448E-A0C4-0A3A5F7CDE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261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15A2-30B3-416A-BAD5-95B1BE314A54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7718197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F0890-C51C-4616-BA92-31E98ECE5B68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2950613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64D2E-4112-4938-891A-6F3A791DFF66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6913848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164B3-E779-4292-BEF5-D8CEC6D821A0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9612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9A13E-91ED-4F6D-BBD4-F3D60BCC2C98}" type="datetime1">
              <a:rPr lang="ru-RU" smtClean="0"/>
              <a:t>26.03.2026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61553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1224B-DFC9-4FEB-8691-D4DF460BE9AB}" type="datetime1">
              <a:rPr lang="ru-RU" smtClean="0"/>
              <a:t>26.03.2026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462698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4754D-5A89-4538-B4B0-681B83032999}" type="datetime1">
              <a:rPr lang="ru-RU" smtClean="0"/>
              <a:t>26.03.2026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78901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CE03C-B778-4234-AF27-27A7E8676B7F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7116920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656DA-8ADC-4140-8391-C5372C970DDA}" type="datetime1">
              <a:rPr lang="ru-RU" smtClean="0"/>
              <a:t>26.03.2026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289279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74D6D-E951-4260-98B9-66D920AA0D79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26667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0E25A-81F6-4E06-8056-5EE8F0636AA9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40796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7DFDD-7F61-483E-A380-F061898845E2}" type="datetime1">
              <a:rPr lang="ru-RU" smtClean="0"/>
              <a:t>26.03.2026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580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685800" y="1645921"/>
            <a:ext cx="7772400" cy="538798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600" dirty="0"/>
          </a:p>
        </p:txBody>
      </p:sp>
      <p:sp>
        <p:nvSpPr>
          <p:cNvPr id="8" name="Подзаголовок 7"/>
          <p:cNvSpPr>
            <a:spLocks noGrp="1"/>
          </p:cNvSpPr>
          <p:nvPr>
            <p:ph type="subTitle" idx="1"/>
          </p:nvPr>
        </p:nvSpPr>
        <p:spPr>
          <a:xfrm>
            <a:off x="1143000" y="2184719"/>
            <a:ext cx="6858000" cy="16557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 09.04.04 «Программная инженерия», группа 21ПГ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программного обеспечения подсистемы «Контроль и учет посещаемости и работы студентов на занятиях» для сайта ОГУ им. И.С. Тургенева»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5"/>
          <p:cNvSpPr txBox="1">
            <a:spLocks/>
          </p:cNvSpPr>
          <p:nvPr/>
        </p:nvSpPr>
        <p:spPr>
          <a:xfrm>
            <a:off x="2021305" y="4651781"/>
            <a:ext cx="6858000" cy="14095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Василения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И.В.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доцент кафедры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ИСиЦТ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Ужаринский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А.Ю.</a:t>
            </a:r>
          </a:p>
        </p:txBody>
      </p:sp>
      <p:sp>
        <p:nvSpPr>
          <p:cNvPr id="9" name="Подзаголовок 7"/>
          <p:cNvSpPr txBox="1">
            <a:spLocks/>
          </p:cNvSpPr>
          <p:nvPr/>
        </p:nvSpPr>
        <p:spPr>
          <a:xfrm>
            <a:off x="0" y="113252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ВЫСШЕГО ОБРАЗОВАНИЯ И НАУКИ РОССИЙСКОЙ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ФЕДЕРАЦИИ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«ОРЛОВСКИЙ ГОСУДАРСТВЕННЫЙ УНИВЕРСИТЕТ ИМЕНИ И.С. ТУРГЕНЕВА»</a:t>
            </a:r>
          </a:p>
        </p:txBody>
      </p:sp>
      <p:sp>
        <p:nvSpPr>
          <p:cNvPr id="10" name="Подзаголовок 5"/>
          <p:cNvSpPr txBox="1">
            <a:spLocks/>
          </p:cNvSpPr>
          <p:nvPr/>
        </p:nvSpPr>
        <p:spPr>
          <a:xfrm>
            <a:off x="3916279" y="6205735"/>
            <a:ext cx="1311442" cy="420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Орел 2025</a:t>
            </a:r>
          </a:p>
        </p:txBody>
      </p:sp>
    </p:spTree>
    <p:extLst>
      <p:ext uri="{BB962C8B-B14F-4D97-AF65-F5344CB8AC3E}">
        <p14:creationId xmlns:p14="http://schemas.microsoft.com/office/powerpoint/2010/main" val="392987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729359" y="567269"/>
            <a:ext cx="568528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	Цель выпускной квалификационной работы: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улучшение существующей системы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процесса заполнения журнала обучения преподавателями ОГУ имени И.С. Тургенева для прекращения использования бумажного носителя. Добавление троичной логики,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логирования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событий, страницы с актуальным на данный момент времени занятием.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729359" y="3184186"/>
            <a:ext cx="5685282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52" algn="just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Задачами, которые необходимо выполнить для достижения поставленной цели, являются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анализ решаемой проблемы, методов и средств ее решения, сформулировать задачи исследования и требования к разработке.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теоретические исследования и определить спецификации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программное обеспечение.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макет программных компонентов или экспериментального образца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Организовать процесс разработки программного обеспечения.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FBE9-CF4D-418B-A662-82E90D5F6E3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824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3</a:t>
            </a:fld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641838" y="1063869"/>
            <a:ext cx="376310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Актуальность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разработки подсистемы обусловлена общемировым трендом на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цифровизацию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образовательной среды. Разработка новой подсистемы на основе существующей позволит полностью отказаться от бумажного носителя, в виду чего разработку можно считать актуальной.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818184" y="1063869"/>
            <a:ext cx="3903785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Проблема: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несоответствие существующей подсистемы контроля посещаемости и сдачи работ требованиям, необходимым для полного отказа от бумажного журнала посещаемости. В соответствии с распоряжением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и.о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ректора ОГУ от 10.02.2025 и просьбами пользователей необходимо контролировать своевременность заполнения журнала, иметь доступ к аналитическим данным и ускорить процесс заполнения.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40815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методов решения поставленной задачи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64"/>
          <a:stretch/>
        </p:blipFill>
        <p:spPr>
          <a:xfrm>
            <a:off x="250306" y="2932949"/>
            <a:ext cx="3301786" cy="1527781"/>
          </a:xfrm>
        </p:spPr>
      </p:pic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27" t="8262" r="24873" b="5680"/>
          <a:stretch/>
        </p:blipFill>
        <p:spPr>
          <a:xfrm>
            <a:off x="3879995" y="1950610"/>
            <a:ext cx="1757082" cy="251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936" y="4684133"/>
            <a:ext cx="1694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9995" y="4684133"/>
            <a:ext cx="1649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Разграничение доступа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830" y="1950610"/>
            <a:ext cx="1052373" cy="105237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950" y="3002983"/>
            <a:ext cx="1212131" cy="1212131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6349716" y="4687026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Фреймворки</a:t>
            </a:r>
          </a:p>
        </p:txBody>
      </p:sp>
    </p:spTree>
    <p:extLst>
      <p:ext uri="{BB962C8B-B14F-4D97-AF65-F5344CB8AC3E}">
        <p14:creationId xmlns:p14="http://schemas.microsoft.com/office/powerpoint/2010/main" val="3498707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аналогичных решений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5</a:t>
            </a:fld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7247965" y="4954465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+ - наличие возможности 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7247964" y="5771578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–  - отсутствие возможности.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DD4F287-977C-829A-8ECD-69963A498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433096"/>
              </p:ext>
            </p:extLst>
          </p:nvPr>
        </p:nvGraphicFramePr>
        <p:xfrm>
          <a:off x="479795" y="624889"/>
          <a:ext cx="7006855" cy="5976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3263">
                  <a:extLst>
                    <a:ext uri="{9D8B030D-6E8A-4147-A177-3AD203B41FA5}">
                      <a16:colId xmlns:a16="http://schemas.microsoft.com/office/drawing/2014/main" val="2492637552"/>
                    </a:ext>
                  </a:extLst>
                </a:gridCol>
                <a:gridCol w="712562">
                  <a:extLst>
                    <a:ext uri="{9D8B030D-6E8A-4147-A177-3AD203B41FA5}">
                      <a16:colId xmlns:a16="http://schemas.microsoft.com/office/drawing/2014/main" val="429494356"/>
                    </a:ext>
                  </a:extLst>
                </a:gridCol>
                <a:gridCol w="1484503">
                  <a:extLst>
                    <a:ext uri="{9D8B030D-6E8A-4147-A177-3AD203B41FA5}">
                      <a16:colId xmlns:a16="http://schemas.microsoft.com/office/drawing/2014/main" val="1537820939"/>
                    </a:ext>
                  </a:extLst>
                </a:gridCol>
                <a:gridCol w="1499348">
                  <a:extLst>
                    <a:ext uri="{9D8B030D-6E8A-4147-A177-3AD203B41FA5}">
                      <a16:colId xmlns:a16="http://schemas.microsoft.com/office/drawing/2014/main" val="2012032171"/>
                    </a:ext>
                  </a:extLst>
                </a:gridCol>
                <a:gridCol w="1707179">
                  <a:extLst>
                    <a:ext uri="{9D8B030D-6E8A-4147-A177-3AD203B41FA5}">
                      <a16:colId xmlns:a16="http://schemas.microsoft.com/office/drawing/2014/main" val="1386154734"/>
                    </a:ext>
                  </a:extLst>
                </a:gridCol>
              </a:tblGrid>
              <a:tr h="6070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 dirty="0">
                          <a:effectLst/>
                        </a:rPr>
                        <a:t>Критерии сравнения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Moodle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1С: Электронный журнал колледжа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Существующая система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Разрабатываемое решение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581842494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посещении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351649579"/>
                  </a:ext>
                </a:extLst>
              </a:tr>
              <a:tr h="4149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Просмотр отметок студентами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727971106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сдаче работ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74000113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Добавление комментария к занятию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4223716219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Групповое проставление отметок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411515100"/>
                  </a:ext>
                </a:extLst>
              </a:tr>
              <a:tr h="7542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Автоматический вывод текущего занятия преподавателя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19555368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Автоматическое формирование списков групп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7905590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Троичная логика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107723198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Разделение на подгруппы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818931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111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6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28" y="953725"/>
            <a:ext cx="1826299" cy="183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8628" y="278375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Доступ через личный кабинет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248" y="953725"/>
            <a:ext cx="1877882" cy="1830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68250" y="2783752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Защищенный доступ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627" y="868630"/>
            <a:ext cx="1915121" cy="19151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16037" y="277473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err="1"/>
              <a:t>Логирование</a:t>
            </a:r>
            <a:r>
              <a:rPr lang="ru-RU" dirty="0"/>
              <a:t> изменений в БД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82" y="3572291"/>
            <a:ext cx="1828796" cy="18287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650" y="5401089"/>
            <a:ext cx="2595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отметок о посещаемости занятий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3322" y="3567157"/>
            <a:ext cx="1828796" cy="18287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0090" y="5395953"/>
            <a:ext cx="2595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оценок о сдаче работ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365" y="3573549"/>
            <a:ext cx="2049404" cy="187792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24830" y="5451472"/>
            <a:ext cx="2595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Добавление, изменение комментария к занятию</a:t>
            </a:r>
          </a:p>
        </p:txBody>
      </p:sp>
    </p:spTree>
    <p:extLst>
      <p:ext uri="{BB962C8B-B14F-4D97-AF65-F5344CB8AC3E}">
        <p14:creationId xmlns:p14="http://schemas.microsoft.com/office/powerpoint/2010/main" val="242593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спецификации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7</a:t>
            </a:fld>
            <a:endParaRPr lang="ru-RU"/>
          </a:p>
        </p:txBody>
      </p:sp>
      <p:pic>
        <p:nvPicPr>
          <p:cNvPr id="17" name="Рисунок 16" descr="Спецификации-Use - case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3612" y="627062"/>
            <a:ext cx="4479315" cy="60944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1692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Сущност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 и связи системы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8</a:t>
            </a:fld>
            <a:endParaRPr lang="ru-RU"/>
          </a:p>
        </p:txBody>
      </p:sp>
      <p:pic>
        <p:nvPicPr>
          <p:cNvPr id="2050" name="Picture 2" descr="Спецификации-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484" y="618567"/>
            <a:ext cx="7725032" cy="5431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95528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9</a:t>
            </a:fld>
            <a:endParaRPr lang="ru-RU"/>
          </a:p>
        </p:txBody>
      </p:sp>
      <p:pic>
        <p:nvPicPr>
          <p:cNvPr id="1026" name="Picture 2" descr="Компоненты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171" y="630886"/>
            <a:ext cx="6097098" cy="5725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628650" y="2"/>
            <a:ext cx="7886700" cy="61856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системы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29955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10</a:t>
            </a:fld>
            <a:endParaRPr lang="ru-RU"/>
          </a:p>
        </p:txBody>
      </p:sp>
      <p:pic>
        <p:nvPicPr>
          <p:cNvPr id="5" name="Рисунок 4" descr="алгоритмы-поиск пары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852" y="715353"/>
            <a:ext cx="3774098" cy="5640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991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11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002790" y="1109662"/>
            <a:ext cx="5138420" cy="463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250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12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1847850" y="1805940"/>
            <a:ext cx="5448300" cy="324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651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13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402180" y="825158"/>
            <a:ext cx="4055770" cy="3269329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1920988" y="4301078"/>
            <a:ext cx="5018153" cy="176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08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14</a:t>
            </a:fld>
            <a:endParaRPr lang="ru-RU"/>
          </a:p>
        </p:txBody>
      </p:sp>
      <p:pic>
        <p:nvPicPr>
          <p:cNvPr id="5" name="Объект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468" y="2300844"/>
            <a:ext cx="7259063" cy="34009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628650" y="2"/>
            <a:ext cx="7886700" cy="618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862034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401</TotalTime>
  <Words>435</Words>
  <Application>Microsoft Office PowerPoint</Application>
  <PresentationFormat>Экран (4:3)</PresentationFormat>
  <Paragraphs>107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    </vt:lpstr>
      <vt:lpstr>Презентация PowerPoint</vt:lpstr>
      <vt:lpstr>Презентация PowerPoint</vt:lpstr>
      <vt:lpstr>Анализ существующих методов решения поставленной задачи</vt:lpstr>
      <vt:lpstr>Сравнение аналогичных решений</vt:lpstr>
      <vt:lpstr>Функциональные требования </vt:lpstr>
      <vt:lpstr>Функциональные спецификации</vt:lpstr>
      <vt:lpstr>Сущности и связи системы</vt:lpstr>
      <vt:lpstr>Презентация PowerPoint</vt:lpstr>
      <vt:lpstr>Алгоритмы</vt:lpstr>
      <vt:lpstr>Интерфейсы</vt:lpstr>
      <vt:lpstr>Интерфейсы</vt:lpstr>
      <vt:lpstr>Интерфейсы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</dc:title>
  <dc:creator>alexandr korotkiy</dc:creator>
  <cp:lastModifiedBy>ИВАН</cp:lastModifiedBy>
  <cp:revision>38</cp:revision>
  <dcterms:created xsi:type="dcterms:W3CDTF">2023-05-23T11:47:02Z</dcterms:created>
  <dcterms:modified xsi:type="dcterms:W3CDTF">2026-03-26T17:51:14Z</dcterms:modified>
</cp:coreProperties>
</file>