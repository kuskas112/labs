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8"/>
  </p:notesMasterIdLst>
  <p:sldIdLst>
    <p:sldId id="283" r:id="rId2"/>
    <p:sldId id="284" r:id="rId3"/>
    <p:sldId id="289" r:id="rId4"/>
    <p:sldId id="285" r:id="rId5"/>
    <p:sldId id="286" r:id="rId6"/>
    <p:sldId id="288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1460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9D613D-7F9B-4E42-A6ED-9695358EDB07}" type="datetimeFigureOut">
              <a:rPr lang="ru-RU" smtClean="0"/>
              <a:t>27.11.2025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8E12E-B280-448E-A0C4-0A3A5F7CDEF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12619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4615A2-30B3-416A-BAD5-95B1BE314A54}" type="datetime1">
              <a:rPr lang="ru-RU" smtClean="0"/>
              <a:t>27.11.2025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7718197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6F0890-C51C-4616-BA92-31E98ECE5B68}" type="datetime1">
              <a:rPr lang="ru-RU" smtClean="0"/>
              <a:t>27.11.2025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2950613"/>
      </p:ext>
    </p:extLst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64D2E-4112-4938-891A-6F3A791DFF66}" type="datetime1">
              <a:rPr lang="ru-RU" smtClean="0"/>
              <a:t>27.11.2025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6913848"/>
      </p:ext>
    </p:extLst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8164B3-E779-4292-BEF5-D8CEC6D821A0}" type="datetime1">
              <a:rPr lang="ru-RU" smtClean="0"/>
              <a:t>27.11.2025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796120"/>
      </p:ext>
    </p:extLst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9A13E-91ED-4F6D-BBD4-F3D60BCC2C98}" type="datetime1">
              <a:rPr lang="ru-RU" smtClean="0"/>
              <a:t>27.11.2025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9615531"/>
      </p:ext>
    </p:extLst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1224B-DFC9-4FEB-8691-D4DF460BE9AB}" type="datetime1">
              <a:rPr lang="ru-RU" smtClean="0"/>
              <a:t>27.11.2025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4626980"/>
      </p:ext>
    </p:extLst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44754D-5A89-4538-B4B0-681B83032999}" type="datetime1">
              <a:rPr lang="ru-RU" smtClean="0"/>
              <a:t>27.11.2025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2789014"/>
      </p:ext>
    </p:extLst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CE03C-B778-4234-AF27-27A7E8676B7F}" type="datetime1">
              <a:rPr lang="ru-RU" smtClean="0"/>
              <a:t>27.11.2025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7116920"/>
      </p:ext>
    </p:extLst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6656DA-8ADC-4140-8391-C5372C970DDA}" type="datetime1">
              <a:rPr lang="ru-RU" smtClean="0"/>
              <a:t>27.11.2025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2289279"/>
      </p:ext>
    </p:extLst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74D6D-E951-4260-98B9-66D920AA0D79}" type="datetime1">
              <a:rPr lang="ru-RU" smtClean="0"/>
              <a:t>27.11.2025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21266672"/>
      </p:ext>
    </p:extLst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0E25A-81F6-4E06-8056-5EE8F0636AA9}" type="datetime1">
              <a:rPr lang="ru-RU" smtClean="0"/>
              <a:t>27.11.2025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340796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47DFDD-7F61-483E-A380-F061898845E2}" type="datetime1">
              <a:rPr lang="ru-RU" smtClean="0"/>
              <a:t>27.11.2025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062FB6-5D41-4B3D-BD8B-8E2B9EA26C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55804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ransition spd="slow">
    <p:push dir="u"/>
  </p:transition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ctrTitle"/>
          </p:nvPr>
        </p:nvSpPr>
        <p:spPr>
          <a:xfrm>
            <a:off x="685800" y="1645921"/>
            <a:ext cx="7772400" cy="538798"/>
          </a:xfrm>
        </p:spPr>
        <p:txBody>
          <a:bodyPr>
            <a:normAutofit fontScale="90000"/>
          </a:bodyPr>
          <a:lstStyle/>
          <a:p>
            <a:b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3600" dirty="0"/>
          </a:p>
        </p:txBody>
      </p:sp>
      <p:sp>
        <p:nvSpPr>
          <p:cNvPr id="8" name="Подзаголовок 7"/>
          <p:cNvSpPr>
            <a:spLocks noGrp="1"/>
          </p:cNvSpPr>
          <p:nvPr>
            <p:ph type="subTitle" idx="1"/>
          </p:nvPr>
        </p:nvSpPr>
        <p:spPr>
          <a:xfrm>
            <a:off x="1143000" y="2184719"/>
            <a:ext cx="6858000" cy="1655762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Направление 09.04.04 «Программная инженерия», группа 21ПГ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Выпускная квалификационная работа на тему: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«Разработка программного обеспечения подсистемы «Контроль и учет посещаемости и работы студентов на занятиях» для сайта ОГУ им. И.С. Тургенева»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одзаголовок 5"/>
          <p:cNvSpPr txBox="1">
            <a:spLocks/>
          </p:cNvSpPr>
          <p:nvPr/>
        </p:nvSpPr>
        <p:spPr>
          <a:xfrm>
            <a:off x="2021305" y="4651781"/>
            <a:ext cx="6858000" cy="140957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 студент: </a:t>
            </a: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Василения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И.В.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ru-RU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Руководитель: 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к.т.н., доцент кафедры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ИСиЦТ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ru-RU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Ужаринский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А.Ю.</a:t>
            </a:r>
          </a:p>
        </p:txBody>
      </p:sp>
      <p:sp>
        <p:nvSpPr>
          <p:cNvPr id="9" name="Подзаголовок 7"/>
          <p:cNvSpPr txBox="1">
            <a:spLocks/>
          </p:cNvSpPr>
          <p:nvPr/>
        </p:nvSpPr>
        <p:spPr>
          <a:xfrm>
            <a:off x="0" y="113252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МИНИСТЕРСТВО ВЫСШЕГО ОБРАЗОВАНИЯ И НАУКИ РОССИЙСКОЙ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ФЕДЕРАЦИИ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ФЕДЕРАЛЬНОЕ ГОСУДАРСТВЕННОЕ БЮДЖЕТНОЕ ОБРАЗОВАТЕЛЬНОЕ УЧРЕЖДЕНИЕ ВЫСШЕГО ОБРАЗОВАНИЯ «ОРЛОВСКИЙ ГОСУДАРСТВЕННЫЙ УНИВЕРСИТЕТ ИМЕНИ И.С. ТУРГЕНЕВА»</a:t>
            </a:r>
          </a:p>
        </p:txBody>
      </p:sp>
      <p:sp>
        <p:nvSpPr>
          <p:cNvPr id="10" name="Подзаголовок 5"/>
          <p:cNvSpPr txBox="1">
            <a:spLocks/>
          </p:cNvSpPr>
          <p:nvPr/>
        </p:nvSpPr>
        <p:spPr>
          <a:xfrm>
            <a:off x="3916279" y="6205735"/>
            <a:ext cx="1311442" cy="42022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Орел 2025</a:t>
            </a:r>
          </a:p>
        </p:txBody>
      </p:sp>
    </p:spTree>
    <p:extLst>
      <p:ext uri="{BB962C8B-B14F-4D97-AF65-F5344CB8AC3E}">
        <p14:creationId xmlns:p14="http://schemas.microsoft.com/office/powerpoint/2010/main" val="39298727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1729359" y="567269"/>
            <a:ext cx="568528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defTabSz="342892"/>
            <a:r>
              <a:rPr lang="ru-RU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	Цель выпускной квалификационной работы: 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улучшение существующей системы </a:t>
            </a:r>
            <a:r>
              <a:rPr lang="ru-RU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цифровизации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 процесса заполнения журнала обучения преподавателями ОГУ имени И.С. Тургенева для прекращения использования бумажного носителя. Добавление троичной логики, </a:t>
            </a:r>
            <a:r>
              <a:rPr lang="ru-RU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логирования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 событий, страницы с актуальным на данный момент времени занятием.</a:t>
            </a:r>
            <a:endParaRPr lang="ru-RU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1729359" y="3184186"/>
            <a:ext cx="5685282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337652" algn="just"/>
            <a:r>
              <a:rPr lang="ru-RU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Задачами, которые необходимо выполнить для достижения поставленной цели, являются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</a:p>
          <a:p>
            <a:pPr marL="257168" indent="-257168" algn="just">
              <a:buFont typeface="+mj-lt"/>
              <a:buAutoNum type="arabicPeriod"/>
            </a:pPr>
            <a:r>
              <a:rPr lang="ru-RU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Провести анализ решаемой проблемы, методов и средств ее решения, сформулировать задачи исследования и требования к разработке.</a:t>
            </a:r>
          </a:p>
          <a:p>
            <a:pPr marL="257168" indent="-257168" algn="just">
              <a:buFont typeface="+mj-lt"/>
              <a:buAutoNum type="arabicPeriod"/>
            </a:pPr>
            <a:r>
              <a:rPr lang="ru-RU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Провести теоретические исследования и определить спецификации программного обеспечения.</a:t>
            </a:r>
          </a:p>
          <a:p>
            <a:pPr marL="257168" indent="-257168" algn="just">
              <a:buFont typeface="+mj-lt"/>
              <a:buAutoNum type="arabicPeriod"/>
            </a:pPr>
            <a:r>
              <a:rPr lang="ru-RU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Спроектировать программное обеспечение.</a:t>
            </a:r>
          </a:p>
          <a:p>
            <a:pPr marL="257168" indent="-257168" algn="just">
              <a:buFont typeface="+mj-lt"/>
              <a:buAutoNum type="arabicPeriod"/>
            </a:pPr>
            <a:r>
              <a:rPr lang="ru-RU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Разработать макет программных компонентов или экспериментального образца программного обеспечения.</a:t>
            </a:r>
          </a:p>
          <a:p>
            <a:pPr marL="257168" indent="-257168" algn="just">
              <a:buFont typeface="+mj-lt"/>
              <a:buAutoNum type="arabicPeriod"/>
            </a:pPr>
            <a:r>
              <a:rPr lang="ru-RU" sz="16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Организовать процесс разработки программного обеспечения.</a:t>
            </a:r>
          </a:p>
        </p:txBody>
      </p:sp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7FBE9-CF4D-418B-A662-82E90D5F6E39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82468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3</a:t>
            </a:fld>
            <a:endParaRPr lang="ru-RU"/>
          </a:p>
        </p:txBody>
      </p:sp>
      <p:sp>
        <p:nvSpPr>
          <p:cNvPr id="3" name="Прямоугольник 2"/>
          <p:cNvSpPr/>
          <p:nvPr/>
        </p:nvSpPr>
        <p:spPr>
          <a:xfrm>
            <a:off x="641838" y="1063869"/>
            <a:ext cx="3763108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defTabSz="342892"/>
            <a:r>
              <a:rPr lang="ru-RU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Актуальность 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разработки подсистемы обусловлена общемировым трендом на </a:t>
            </a:r>
            <a:r>
              <a:rPr lang="ru-RU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цифровизацию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 образовательной среды. Разработка новой подсистемы на основе существующей позволит полностью отказаться от бумажного носителя, в виду чего разработку можно считать актуальной.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4818184" y="1063869"/>
            <a:ext cx="3903785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 defTabSz="342892"/>
            <a:r>
              <a:rPr lang="ru-RU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Проблема: 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несоответствие существующей подсистемы контроля посещаемости и сдачи работ требованиям, необходимым для полного отказа от бумажного журнала посещаемости. В соответствии с распоряжением </a:t>
            </a:r>
            <a:r>
              <a:rPr lang="ru-RU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и.о</a:t>
            </a:r>
            <a:r>
              <a:rPr lang="ru-RU" dirty="0">
                <a:latin typeface="Times New Roman" panose="02020603050405020304" pitchFamily="18" charset="0"/>
                <a:ea typeface="Times New Roman" panose="02020603050405020304" pitchFamily="18" charset="0"/>
              </a:rPr>
              <a:t>. ректора ОГУ от 10.02.2025 и просьбами пользователей необходимо контролировать своевременность заполнения журнала, иметь доступ к аналитическим данным и ускорить процесс заполнения.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44081593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28650" y="2"/>
            <a:ext cx="7886700" cy="1325563"/>
          </a:xfrm>
        </p:spPr>
        <p:txBody>
          <a:bodyPr>
            <a:normAutofit/>
          </a:bodyPr>
          <a:lstStyle/>
          <a:p>
            <a:pPr algn="ctr"/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существующих методов решения поставленной задачи</a:t>
            </a: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664"/>
          <a:stretch/>
        </p:blipFill>
        <p:spPr>
          <a:xfrm>
            <a:off x="250306" y="2932949"/>
            <a:ext cx="3301786" cy="1527781"/>
          </a:xfrm>
        </p:spPr>
      </p:pic>
      <p:sp>
        <p:nvSpPr>
          <p:cNvPr id="8" name="Номер слайда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4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627" t="8262" r="24873" b="5680"/>
          <a:stretch/>
        </p:blipFill>
        <p:spPr>
          <a:xfrm>
            <a:off x="3879995" y="1950610"/>
            <a:ext cx="1757082" cy="2510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936" y="4684133"/>
            <a:ext cx="16943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Структура БД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79995" y="4684133"/>
            <a:ext cx="16495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Разграничение доступа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7830" y="1950610"/>
            <a:ext cx="1052373" cy="1052373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7950" y="3002983"/>
            <a:ext cx="1212131" cy="1212131"/>
          </a:xfrm>
          <a:prstGeom prst="rect">
            <a:avLst/>
          </a:prstGeom>
        </p:spPr>
      </p:pic>
      <p:sp>
        <p:nvSpPr>
          <p:cNvPr id="15" name="Прямоугольник 14"/>
          <p:cNvSpPr/>
          <p:nvPr/>
        </p:nvSpPr>
        <p:spPr>
          <a:xfrm>
            <a:off x="6349716" y="4687026"/>
            <a:ext cx="142859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Фреймворки</a:t>
            </a:r>
          </a:p>
        </p:txBody>
      </p:sp>
    </p:spTree>
    <p:extLst>
      <p:ext uri="{BB962C8B-B14F-4D97-AF65-F5344CB8AC3E}">
        <p14:creationId xmlns:p14="http://schemas.microsoft.com/office/powerpoint/2010/main" val="34987073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28650" y="2"/>
            <a:ext cx="7886700" cy="618565"/>
          </a:xfrm>
        </p:spPr>
        <p:txBody>
          <a:bodyPr>
            <a:normAutofit/>
          </a:bodyPr>
          <a:lstStyle/>
          <a:p>
            <a:pPr algn="ctr"/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Сравнение аналогичных решений</a:t>
            </a:r>
          </a:p>
        </p:txBody>
      </p:sp>
      <p:sp>
        <p:nvSpPr>
          <p:cNvPr id="11" name="Номер слайда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5</a:t>
            </a:fld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7247965" y="4954465"/>
            <a:ext cx="189603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dirty="0"/>
              <a:t>+ - наличие возможности 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7247964" y="5771578"/>
            <a:ext cx="1896036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600" dirty="0"/>
              <a:t>–  - отсутствие возможности.</a:t>
            </a: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FDD4F287-977C-829A-8ECD-69963A4983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3433096"/>
              </p:ext>
            </p:extLst>
          </p:nvPr>
        </p:nvGraphicFramePr>
        <p:xfrm>
          <a:off x="479795" y="624889"/>
          <a:ext cx="7006855" cy="597602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3263">
                  <a:extLst>
                    <a:ext uri="{9D8B030D-6E8A-4147-A177-3AD203B41FA5}">
                      <a16:colId xmlns:a16="http://schemas.microsoft.com/office/drawing/2014/main" val="2492637552"/>
                    </a:ext>
                  </a:extLst>
                </a:gridCol>
                <a:gridCol w="712562">
                  <a:extLst>
                    <a:ext uri="{9D8B030D-6E8A-4147-A177-3AD203B41FA5}">
                      <a16:colId xmlns:a16="http://schemas.microsoft.com/office/drawing/2014/main" val="429494356"/>
                    </a:ext>
                  </a:extLst>
                </a:gridCol>
                <a:gridCol w="1484503">
                  <a:extLst>
                    <a:ext uri="{9D8B030D-6E8A-4147-A177-3AD203B41FA5}">
                      <a16:colId xmlns:a16="http://schemas.microsoft.com/office/drawing/2014/main" val="1537820939"/>
                    </a:ext>
                  </a:extLst>
                </a:gridCol>
                <a:gridCol w="1499348">
                  <a:extLst>
                    <a:ext uri="{9D8B030D-6E8A-4147-A177-3AD203B41FA5}">
                      <a16:colId xmlns:a16="http://schemas.microsoft.com/office/drawing/2014/main" val="2012032171"/>
                    </a:ext>
                  </a:extLst>
                </a:gridCol>
                <a:gridCol w="1707179">
                  <a:extLst>
                    <a:ext uri="{9D8B030D-6E8A-4147-A177-3AD203B41FA5}">
                      <a16:colId xmlns:a16="http://schemas.microsoft.com/office/drawing/2014/main" val="1386154734"/>
                    </a:ext>
                  </a:extLst>
                </a:gridCol>
              </a:tblGrid>
              <a:tr h="60702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 dirty="0">
                          <a:effectLst/>
                        </a:rPr>
                        <a:t>Критерии сравнения</a:t>
                      </a:r>
                      <a:endParaRPr lang="ru-RU" sz="14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400" u="none" strike="noStrike">
                          <a:effectLst/>
                        </a:rPr>
                        <a:t>Moodle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>
                          <a:effectLst/>
                        </a:rPr>
                        <a:t>1С: Электронный журнал колледжа</a:t>
                      </a:r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>
                          <a:effectLst/>
                        </a:rPr>
                        <a:t>Существующая система</a:t>
                      </a:r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>
                          <a:effectLst/>
                        </a:rPr>
                        <a:t>Разрабатываемое решение</a:t>
                      </a:r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extLst>
                  <a:ext uri="{0D108BD9-81ED-4DB2-BD59-A6C34878D82A}">
                    <a16:rowId xmlns:a16="http://schemas.microsoft.com/office/drawing/2014/main" val="3581842494"/>
                  </a:ext>
                </a:extLst>
              </a:tr>
              <a:tr h="56651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>
                          <a:effectLst/>
                        </a:rPr>
                        <a:t>Проставление отметок о посещении</a:t>
                      </a:r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extLst>
                  <a:ext uri="{0D108BD9-81ED-4DB2-BD59-A6C34878D82A}">
                    <a16:rowId xmlns:a16="http://schemas.microsoft.com/office/drawing/2014/main" val="3351649579"/>
                  </a:ext>
                </a:extLst>
              </a:tr>
              <a:tr h="41493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>
                          <a:effectLst/>
                        </a:rPr>
                        <a:t>Просмотр отметок студентами</a:t>
                      </a:r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extLst>
                  <a:ext uri="{0D108BD9-81ED-4DB2-BD59-A6C34878D82A}">
                    <a16:rowId xmlns:a16="http://schemas.microsoft.com/office/drawing/2014/main" val="2727971106"/>
                  </a:ext>
                </a:extLst>
              </a:tr>
              <a:tr h="56651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>
                          <a:effectLst/>
                        </a:rPr>
                        <a:t>Проставление отметок о сдаче работ</a:t>
                      </a:r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extLst>
                  <a:ext uri="{0D108BD9-81ED-4DB2-BD59-A6C34878D82A}">
                    <a16:rowId xmlns:a16="http://schemas.microsoft.com/office/drawing/2014/main" val="674000113"/>
                  </a:ext>
                </a:extLst>
              </a:tr>
              <a:tr h="56651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>
                          <a:effectLst/>
                        </a:rPr>
                        <a:t>Добавление комментария к занятию</a:t>
                      </a:r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extLst>
                  <a:ext uri="{0D108BD9-81ED-4DB2-BD59-A6C34878D82A}">
                    <a16:rowId xmlns:a16="http://schemas.microsoft.com/office/drawing/2014/main" val="4223716219"/>
                  </a:ext>
                </a:extLst>
              </a:tr>
              <a:tr h="56651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>
                          <a:effectLst/>
                        </a:rPr>
                        <a:t>Групповое проставление отметок</a:t>
                      </a:r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extLst>
                  <a:ext uri="{0D108BD9-81ED-4DB2-BD59-A6C34878D82A}">
                    <a16:rowId xmlns:a16="http://schemas.microsoft.com/office/drawing/2014/main" val="2411515100"/>
                  </a:ext>
                </a:extLst>
              </a:tr>
              <a:tr h="75420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>
                          <a:effectLst/>
                        </a:rPr>
                        <a:t>Автоматический вывод текущего занятия преподавателя</a:t>
                      </a:r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extLst>
                  <a:ext uri="{0D108BD9-81ED-4DB2-BD59-A6C34878D82A}">
                    <a16:rowId xmlns:a16="http://schemas.microsoft.com/office/drawing/2014/main" val="619555368"/>
                  </a:ext>
                </a:extLst>
              </a:tr>
              <a:tr h="566510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>
                          <a:effectLst/>
                        </a:rPr>
                        <a:t>Автоматическое формирование списков групп</a:t>
                      </a:r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extLst>
                  <a:ext uri="{0D108BD9-81ED-4DB2-BD59-A6C34878D82A}">
                    <a16:rowId xmlns:a16="http://schemas.microsoft.com/office/drawing/2014/main" val="379055900"/>
                  </a:ext>
                </a:extLst>
              </a:tr>
              <a:tr h="37881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>
                          <a:effectLst/>
                        </a:rPr>
                        <a:t>Троичная логика</a:t>
                      </a:r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+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extLst>
                  <a:ext uri="{0D108BD9-81ED-4DB2-BD59-A6C34878D82A}">
                    <a16:rowId xmlns:a16="http://schemas.microsoft.com/office/drawing/2014/main" val="1077231980"/>
                  </a:ext>
                </a:extLst>
              </a:tr>
              <a:tr h="378814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1400" u="none" strike="noStrike">
                          <a:effectLst/>
                        </a:rPr>
                        <a:t>Разделение на подгруппы</a:t>
                      </a:r>
                      <a:endParaRPr lang="ru-RU" sz="14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 dirty="0">
                          <a:effectLst/>
                        </a:rPr>
                        <a:t>+</a:t>
                      </a:r>
                      <a:endParaRPr lang="ru-RU" sz="28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>
                          <a:effectLst/>
                        </a:rPr>
                        <a:t>-</a:t>
                      </a:r>
                      <a:endParaRPr lang="ru-RU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ru-RU" sz="2800" u="none" strike="noStrike" dirty="0">
                          <a:effectLst/>
                        </a:rPr>
                        <a:t>+</a:t>
                      </a:r>
                      <a:endParaRPr lang="ru-RU" sz="28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3889" marR="3889" marT="3889" marB="0" anchor="ctr"/>
                </a:tc>
                <a:extLst>
                  <a:ext uri="{0D108BD9-81ED-4DB2-BD59-A6C34878D82A}">
                    <a16:rowId xmlns:a16="http://schemas.microsoft.com/office/drawing/2014/main" val="28189318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31119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28650" y="2"/>
            <a:ext cx="7886700" cy="618565"/>
          </a:xfrm>
        </p:spPr>
        <p:txBody>
          <a:bodyPr>
            <a:normAutofit/>
          </a:bodyPr>
          <a:lstStyle/>
          <a:p>
            <a:pPr algn="ctr"/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Функциональные требования </a:t>
            </a:r>
          </a:p>
        </p:txBody>
      </p:sp>
      <p:sp>
        <p:nvSpPr>
          <p:cNvPr id="11" name="Номер слайда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062FB6-5D41-4B3D-BD8B-8E2B9EA26C81}" type="slidenum">
              <a:rPr lang="ru-RU" smtClean="0"/>
              <a:t>6</a:t>
            </a:fld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628" y="953725"/>
            <a:ext cx="1826299" cy="183002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88628" y="2783753"/>
            <a:ext cx="18262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Доступ через личный кабинет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8248" y="953725"/>
            <a:ext cx="1877882" cy="18300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68250" y="2783752"/>
            <a:ext cx="18262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Защищенный доступ</a:t>
            </a: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1627" y="868630"/>
            <a:ext cx="1915121" cy="191512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16037" y="2774733"/>
            <a:ext cx="18262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 err="1"/>
              <a:t>Логирование</a:t>
            </a:r>
            <a:r>
              <a:rPr lang="ru-RU" dirty="0"/>
              <a:t> изменений в БД</a:t>
            </a: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882" y="3572291"/>
            <a:ext cx="1828796" cy="18287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8650" y="5401089"/>
            <a:ext cx="259526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Проставление, изменение, удаление отметок о посещаемости занятий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3322" y="3567157"/>
            <a:ext cx="1828796" cy="18287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20090" y="5395953"/>
            <a:ext cx="25952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Проставление, изменение, удаление оценок о сдаче работ</a:t>
            </a:r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1365" y="3573549"/>
            <a:ext cx="2049404" cy="187792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324830" y="5451472"/>
            <a:ext cx="2595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Добавление, изменение комментария к занятию</a:t>
            </a:r>
          </a:p>
        </p:txBody>
      </p:sp>
    </p:spTree>
    <p:extLst>
      <p:ext uri="{BB962C8B-B14F-4D97-AF65-F5344CB8AC3E}">
        <p14:creationId xmlns:p14="http://schemas.microsoft.com/office/powerpoint/2010/main" val="242593241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395</TotalTime>
  <Words>430</Words>
  <Application>Microsoft Office PowerPoint</Application>
  <PresentationFormat>Экран (4:3)</PresentationFormat>
  <Paragraphs>91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Times New Roman</vt:lpstr>
      <vt:lpstr>Тема Office</vt:lpstr>
      <vt:lpstr>    </vt:lpstr>
      <vt:lpstr>Презентация PowerPoint</vt:lpstr>
      <vt:lpstr>Презентация PowerPoint</vt:lpstr>
      <vt:lpstr>Анализ существующих методов решения поставленной задачи</vt:lpstr>
      <vt:lpstr>Сравнение аналогичных решений</vt:lpstr>
      <vt:lpstr>Функциональные требования 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   </dc:title>
  <dc:creator>alexandr korotkiy</dc:creator>
  <cp:lastModifiedBy>Ivan Vasileniya</cp:lastModifiedBy>
  <cp:revision>35</cp:revision>
  <dcterms:created xsi:type="dcterms:W3CDTF">2023-05-23T11:47:02Z</dcterms:created>
  <dcterms:modified xsi:type="dcterms:W3CDTF">2025-11-27T18:04:30Z</dcterms:modified>
</cp:coreProperties>
</file>