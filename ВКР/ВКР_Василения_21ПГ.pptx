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0"/>
  </p:notesMasterIdLst>
  <p:sldIdLst>
    <p:sldId id="283" r:id="rId2"/>
    <p:sldId id="284" r:id="rId3"/>
    <p:sldId id="289" r:id="rId4"/>
    <p:sldId id="285" r:id="rId5"/>
    <p:sldId id="286" r:id="rId6"/>
    <p:sldId id="288" r:id="rId7"/>
    <p:sldId id="291" r:id="rId8"/>
    <p:sldId id="292" r:id="rId9"/>
    <p:sldId id="290" r:id="rId10"/>
    <p:sldId id="298" r:id="rId11"/>
    <p:sldId id="293" r:id="rId12"/>
    <p:sldId id="299" r:id="rId13"/>
    <p:sldId id="294" r:id="rId14"/>
    <p:sldId id="295" r:id="rId15"/>
    <p:sldId id="296" r:id="rId16"/>
    <p:sldId id="297" r:id="rId17"/>
    <p:sldId id="300" r:id="rId18"/>
    <p:sldId id="301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9D613D-7F9B-4E42-A6ED-9695358EDB07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8E12E-B280-448E-A0C4-0A3A5F7CDE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261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15A2-30B3-416A-BAD5-95B1BE314A54}" type="datetime1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718197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0890-C51C-4616-BA92-31E98ECE5B68}" type="datetime1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2950613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64D2E-4112-4938-891A-6F3A791DFF66}" type="datetime1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913848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164B3-E779-4292-BEF5-D8CEC6D821A0}" type="datetime1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96120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9A13E-91ED-4F6D-BBD4-F3D60BCC2C98}" type="datetime1">
              <a:rPr lang="ru-RU" smtClean="0"/>
              <a:t>18.05.2026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61553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224B-DFC9-4FEB-8691-D4DF460BE9AB}" type="datetime1">
              <a:rPr lang="ru-RU" smtClean="0"/>
              <a:t>18.05.2026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626980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4754D-5A89-4538-B4B0-681B83032999}" type="datetime1">
              <a:rPr lang="ru-RU" smtClean="0"/>
              <a:t>18.05.2026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789014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CE03C-B778-4234-AF27-27A7E8676B7F}" type="datetime1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7116920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56DA-8ADC-4140-8391-C5372C970DDA}" type="datetime1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2289279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74D6D-E951-4260-98B9-66D920AA0D79}" type="datetime1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1266672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0E25A-81F6-4E06-8056-5EE8F0636AA9}" type="datetime1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340796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7DFDD-7F61-483E-A380-F061898845E2}" type="datetime1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062FB6-5D41-4B3D-BD8B-8E2B9EA26C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5580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 dir="u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>
          <a:xfrm>
            <a:off x="685800" y="1645921"/>
            <a:ext cx="7772400" cy="538798"/>
          </a:xfrm>
        </p:spPr>
        <p:txBody>
          <a:bodyPr>
            <a:normAutofit fontScale="90000"/>
          </a:bodyPr>
          <a:lstStyle/>
          <a:p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600" dirty="0"/>
          </a:p>
        </p:txBody>
      </p:sp>
      <p:sp>
        <p:nvSpPr>
          <p:cNvPr id="8" name="Подзаголовок 7"/>
          <p:cNvSpPr>
            <a:spLocks noGrp="1"/>
          </p:cNvSpPr>
          <p:nvPr>
            <p:ph type="subTitle" idx="1"/>
          </p:nvPr>
        </p:nvSpPr>
        <p:spPr>
          <a:xfrm>
            <a:off x="1143000" y="2184719"/>
            <a:ext cx="6858000" cy="165576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Направление 09.04.04 «Программная инженерия», группа 21ПГ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 на тему: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программного обеспечения подсистемы «Контроль и учет посещаемости и работы студентов на занятиях» для сайта ОГУ им. И.С. Тургенева»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одзаголовок 5"/>
          <p:cNvSpPr txBox="1">
            <a:spLocks/>
          </p:cNvSpPr>
          <p:nvPr/>
        </p:nvSpPr>
        <p:spPr>
          <a:xfrm>
            <a:off x="2021305" y="4651781"/>
            <a:ext cx="6858000" cy="14095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студент: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Василения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И.В.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к.т.н., доцент кафедры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ИСиЦТ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Ужаринский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А.Ю.</a:t>
            </a:r>
          </a:p>
        </p:txBody>
      </p:sp>
      <p:sp>
        <p:nvSpPr>
          <p:cNvPr id="9" name="Подзаголовок 7"/>
          <p:cNvSpPr txBox="1">
            <a:spLocks/>
          </p:cNvSpPr>
          <p:nvPr/>
        </p:nvSpPr>
        <p:spPr>
          <a:xfrm>
            <a:off x="0" y="11325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ВЫСШЕГО ОБРАЗОВАНИЯ И НАУКИ РОССИЙСКОЙ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ФЕДЕРАЦИИ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 «ОРЛОВСКИЙ ГОСУДАРСТВЕННЫЙ УНИВЕРСИТЕТ ИМЕНИ И.С. ТУРГЕНЕВА»</a:t>
            </a:r>
          </a:p>
        </p:txBody>
      </p:sp>
      <p:sp>
        <p:nvSpPr>
          <p:cNvPr id="10" name="Подзаголовок 5"/>
          <p:cNvSpPr txBox="1">
            <a:spLocks/>
          </p:cNvSpPr>
          <p:nvPr/>
        </p:nvSpPr>
        <p:spPr>
          <a:xfrm>
            <a:off x="3916279" y="6205735"/>
            <a:ext cx="1311442" cy="4202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Орел 2025</a:t>
            </a:r>
          </a:p>
        </p:txBody>
      </p:sp>
    </p:spTree>
    <p:extLst>
      <p:ext uri="{BB962C8B-B14F-4D97-AF65-F5344CB8AC3E}">
        <p14:creationId xmlns:p14="http://schemas.microsoft.com/office/powerpoint/2010/main" val="3929872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729359" y="567269"/>
            <a:ext cx="568528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342892"/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	Цель выпускной квалификационной работы: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улучшение существующей системы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цифровизации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процесса заполнения журнала обучения преподавателями ОГУ имени И.С. Тургенева для прекращения использования бумажного носителя. Добавление троичной логики,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логирования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событий, страницы с актуальным на данный момент времени занятием.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729359" y="3184186"/>
            <a:ext cx="568528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37652" algn="just"/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Задачами, которые необходимо выполнить для достижения поставленной цели, являются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257168" indent="-257168" algn="just"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Провести анализ решаемой проблемы, методов и средств ее решения, сформулировать задачи исследования и требования к разработке.</a:t>
            </a:r>
          </a:p>
          <a:p>
            <a:pPr marL="257168" indent="-257168" algn="just"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Провести теоретические исследования и определить спецификации программного обеспечения.</a:t>
            </a:r>
          </a:p>
          <a:p>
            <a:pPr marL="257168" indent="-257168" algn="just"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Спроектировать программное обеспечение.</a:t>
            </a:r>
          </a:p>
          <a:p>
            <a:pPr marL="257168" indent="-257168" algn="just"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Разработать макет программных компонентов или экспериментального образца программного обеспечения.</a:t>
            </a:r>
          </a:p>
          <a:p>
            <a:pPr marL="257168" indent="-257168" algn="just"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Организовать процесс разработки программного обеспечения.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FBE9-CF4D-418B-A662-82E90D5F6E3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8246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3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641838" y="1063869"/>
            <a:ext cx="376310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342892"/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Актуальность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разработки подсистемы обусловлена общемировым трендом на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цифровизацию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образовательной среды. Разработка новой подсистемы на основе существующей позволит полностью отказаться от бумажного носителя, в виду чего разработку можно считать актуальной.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818184" y="1063869"/>
            <a:ext cx="390378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342892"/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Проблема: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несоответствие существующей подсистемы контроля посещаемости и сдачи работ требованиям, необходимым для полного отказа от бумажного журнала посещаемости. В соответствии с распоряжением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и.о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ректора ОГУ от 10.02.2025 и просьбами пользователей необходимо контролировать своевременность заполнения журнала, иметь доступ к аналитическим данным и ускорить процесс заполнения.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408159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существующих методов решения поставленной задачи</a:t>
            </a: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4</a:t>
            </a:fld>
            <a:endParaRPr lang="ru-RU"/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E794C25C-9C53-AE19-3A1B-FEA1042B1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1" name="Рисунок 10" descr="Последовательность, журнал">
            <a:extLst>
              <a:ext uri="{FF2B5EF4-FFF2-40B4-BE49-F238E27FC236}">
                <a16:creationId xmlns:a16="http://schemas.microsoft.com/office/drawing/2014/main" id="{DA94D8A8-BE14-8C62-064C-E133AF1AC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212851"/>
            <a:ext cx="355282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Рисунок 11" descr="Последовательность, журнал-Электронный">
            <a:extLst>
              <a:ext uri="{FF2B5EF4-FFF2-40B4-BE49-F238E27FC236}">
                <a16:creationId xmlns:a16="http://schemas.microsoft.com/office/drawing/2014/main" id="{900A62E9-FFEC-82A8-2707-F0CA57E675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774" y="1825625"/>
            <a:ext cx="3505200" cy="381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8707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618565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аналогичных решений</a:t>
            </a: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5</a:t>
            </a:fld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7247965" y="4954465"/>
            <a:ext cx="18960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/>
              <a:t>+ - наличие возможности 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7247964" y="5771578"/>
            <a:ext cx="18960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/>
              <a:t>–  - отсутствие возможности.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FDD4F287-977C-829A-8ECD-69963A498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433096"/>
              </p:ext>
            </p:extLst>
          </p:nvPr>
        </p:nvGraphicFramePr>
        <p:xfrm>
          <a:off x="479795" y="624889"/>
          <a:ext cx="7006855" cy="59760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3263">
                  <a:extLst>
                    <a:ext uri="{9D8B030D-6E8A-4147-A177-3AD203B41FA5}">
                      <a16:colId xmlns:a16="http://schemas.microsoft.com/office/drawing/2014/main" val="2492637552"/>
                    </a:ext>
                  </a:extLst>
                </a:gridCol>
                <a:gridCol w="712562">
                  <a:extLst>
                    <a:ext uri="{9D8B030D-6E8A-4147-A177-3AD203B41FA5}">
                      <a16:colId xmlns:a16="http://schemas.microsoft.com/office/drawing/2014/main" val="429494356"/>
                    </a:ext>
                  </a:extLst>
                </a:gridCol>
                <a:gridCol w="1484503">
                  <a:extLst>
                    <a:ext uri="{9D8B030D-6E8A-4147-A177-3AD203B41FA5}">
                      <a16:colId xmlns:a16="http://schemas.microsoft.com/office/drawing/2014/main" val="1537820939"/>
                    </a:ext>
                  </a:extLst>
                </a:gridCol>
                <a:gridCol w="1499348">
                  <a:extLst>
                    <a:ext uri="{9D8B030D-6E8A-4147-A177-3AD203B41FA5}">
                      <a16:colId xmlns:a16="http://schemas.microsoft.com/office/drawing/2014/main" val="2012032171"/>
                    </a:ext>
                  </a:extLst>
                </a:gridCol>
                <a:gridCol w="1707179">
                  <a:extLst>
                    <a:ext uri="{9D8B030D-6E8A-4147-A177-3AD203B41FA5}">
                      <a16:colId xmlns:a16="http://schemas.microsoft.com/office/drawing/2014/main" val="1386154734"/>
                    </a:ext>
                  </a:extLst>
                </a:gridCol>
              </a:tblGrid>
              <a:tr h="60702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 dirty="0">
                          <a:effectLst/>
                        </a:rPr>
                        <a:t>Критерии сравнения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Moodle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>
                          <a:effectLst/>
                        </a:rPr>
                        <a:t>1С: Электронный журнал колледжа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>
                          <a:effectLst/>
                        </a:rPr>
                        <a:t>Существующая система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>
                          <a:effectLst/>
                        </a:rPr>
                        <a:t>Разрабатываемое решение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extLst>
                  <a:ext uri="{0D108BD9-81ED-4DB2-BD59-A6C34878D82A}">
                    <a16:rowId xmlns:a16="http://schemas.microsoft.com/office/drawing/2014/main" val="3581842494"/>
                  </a:ext>
                </a:extLst>
              </a:tr>
              <a:tr h="5665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>
                          <a:effectLst/>
                        </a:rPr>
                        <a:t>Проставление отметок о посещении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extLst>
                  <a:ext uri="{0D108BD9-81ED-4DB2-BD59-A6C34878D82A}">
                    <a16:rowId xmlns:a16="http://schemas.microsoft.com/office/drawing/2014/main" val="3351649579"/>
                  </a:ext>
                </a:extLst>
              </a:tr>
              <a:tr h="4149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>
                          <a:effectLst/>
                        </a:rPr>
                        <a:t>Просмотр отметок студентами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extLst>
                  <a:ext uri="{0D108BD9-81ED-4DB2-BD59-A6C34878D82A}">
                    <a16:rowId xmlns:a16="http://schemas.microsoft.com/office/drawing/2014/main" val="2727971106"/>
                  </a:ext>
                </a:extLst>
              </a:tr>
              <a:tr h="5665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>
                          <a:effectLst/>
                        </a:rPr>
                        <a:t>Проставление отметок о сдаче работ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extLst>
                  <a:ext uri="{0D108BD9-81ED-4DB2-BD59-A6C34878D82A}">
                    <a16:rowId xmlns:a16="http://schemas.microsoft.com/office/drawing/2014/main" val="674000113"/>
                  </a:ext>
                </a:extLst>
              </a:tr>
              <a:tr h="5665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>
                          <a:effectLst/>
                        </a:rPr>
                        <a:t>Добавление комментария к занятию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extLst>
                  <a:ext uri="{0D108BD9-81ED-4DB2-BD59-A6C34878D82A}">
                    <a16:rowId xmlns:a16="http://schemas.microsoft.com/office/drawing/2014/main" val="4223716219"/>
                  </a:ext>
                </a:extLst>
              </a:tr>
              <a:tr h="5665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>
                          <a:effectLst/>
                        </a:rPr>
                        <a:t>Групповое проставление отметок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extLst>
                  <a:ext uri="{0D108BD9-81ED-4DB2-BD59-A6C34878D82A}">
                    <a16:rowId xmlns:a16="http://schemas.microsoft.com/office/drawing/2014/main" val="2411515100"/>
                  </a:ext>
                </a:extLst>
              </a:tr>
              <a:tr h="7542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>
                          <a:effectLst/>
                        </a:rPr>
                        <a:t>Автоматический вывод текущего занятия преподавателя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extLst>
                  <a:ext uri="{0D108BD9-81ED-4DB2-BD59-A6C34878D82A}">
                    <a16:rowId xmlns:a16="http://schemas.microsoft.com/office/drawing/2014/main" val="619555368"/>
                  </a:ext>
                </a:extLst>
              </a:tr>
              <a:tr h="5665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>
                          <a:effectLst/>
                        </a:rPr>
                        <a:t>Автоматическое формирование списков групп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extLst>
                  <a:ext uri="{0D108BD9-81ED-4DB2-BD59-A6C34878D82A}">
                    <a16:rowId xmlns:a16="http://schemas.microsoft.com/office/drawing/2014/main" val="379055900"/>
                  </a:ext>
                </a:extLst>
              </a:tr>
              <a:tr h="3788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>
                          <a:effectLst/>
                        </a:rPr>
                        <a:t>Троичная логика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extLst>
                  <a:ext uri="{0D108BD9-81ED-4DB2-BD59-A6C34878D82A}">
                    <a16:rowId xmlns:a16="http://schemas.microsoft.com/office/drawing/2014/main" val="1077231980"/>
                  </a:ext>
                </a:extLst>
              </a:tr>
              <a:tr h="3788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>
                          <a:effectLst/>
                        </a:rPr>
                        <a:t>Разделение на подгруппы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 dirty="0">
                          <a:effectLst/>
                        </a:rPr>
                        <a:t>+</a:t>
                      </a:r>
                      <a:endParaRPr lang="ru-RU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 dirty="0">
                          <a:effectLst/>
                        </a:rPr>
                        <a:t>+</a:t>
                      </a:r>
                      <a:endParaRPr lang="ru-RU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extLst>
                  <a:ext uri="{0D108BD9-81ED-4DB2-BD59-A6C34878D82A}">
                    <a16:rowId xmlns:a16="http://schemas.microsoft.com/office/drawing/2014/main" val="2818931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111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618565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требования </a:t>
            </a: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6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28" y="953725"/>
            <a:ext cx="1826299" cy="18300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8628" y="2783753"/>
            <a:ext cx="1826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Доступ через личный кабинет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248" y="953725"/>
            <a:ext cx="1877882" cy="18300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68250" y="2783752"/>
            <a:ext cx="1826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Защищенный доступ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627" y="868630"/>
            <a:ext cx="1915121" cy="19151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16037" y="2774733"/>
            <a:ext cx="1826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err="1"/>
              <a:t>Логирование</a:t>
            </a:r>
            <a:r>
              <a:rPr lang="ru-RU" dirty="0"/>
              <a:t> изменений в БД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82" y="3572291"/>
            <a:ext cx="1828796" cy="18287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8650" y="5401089"/>
            <a:ext cx="2595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Проставление, изменение, удаление отметок о посещаемости занятий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322" y="3567157"/>
            <a:ext cx="1828796" cy="18287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20090" y="5395953"/>
            <a:ext cx="2595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Проставление, изменение, удаление оценок о сдаче работ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365" y="3573549"/>
            <a:ext cx="2049404" cy="187792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324830" y="5451472"/>
            <a:ext cx="2595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Добавление, изменение комментария к занятию</a:t>
            </a:r>
          </a:p>
        </p:txBody>
      </p:sp>
    </p:spTree>
    <p:extLst>
      <p:ext uri="{BB962C8B-B14F-4D97-AF65-F5344CB8AC3E}">
        <p14:creationId xmlns:p14="http://schemas.microsoft.com/office/powerpoint/2010/main" val="2425932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618565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спецификация подсистемы</a:t>
            </a: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7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D2EFE6C-08A1-98EA-7550-8187ED5A7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903" y="517868"/>
            <a:ext cx="4495829" cy="61197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1692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618565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Информационная спецификация подсистемы</a:t>
            </a: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8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5628FA-9C76-0A9A-01AA-18C8D61B9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33" y="763480"/>
            <a:ext cx="7734717" cy="54378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5528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9</a:t>
            </a:fld>
            <a:endParaRPr lang="ru-RU"/>
          </a:p>
        </p:txBody>
      </p:sp>
      <p:pic>
        <p:nvPicPr>
          <p:cNvPr id="1026" name="Picture 2" descr="Компоненты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171" y="630886"/>
            <a:ext cx="6097098" cy="5725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628650" y="2"/>
            <a:ext cx="7886700" cy="61856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382429955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4D12D-C929-49F4-876E-681D441D1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3FDBA77-D7BE-30A9-4164-527BAC27D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10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ECBC7E8-E609-D1C0-6ED0-FE21D5242256}"/>
              </a:ext>
            </a:extLst>
          </p:cNvPr>
          <p:cNvSpPr txBox="1">
            <a:spLocks/>
          </p:cNvSpPr>
          <p:nvPr/>
        </p:nvSpPr>
        <p:spPr>
          <a:xfrm>
            <a:off x="628650" y="2"/>
            <a:ext cx="7886700" cy="61856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Поведенческая спецификация подсистемы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A31BC0-6F80-2F30-47F6-85DE0202A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783" y="1550770"/>
            <a:ext cx="7549567" cy="37564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114053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834499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формирования страницы журнала посещаемости для группы на текущую дату </a:t>
            </a: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11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0D2472-25FA-0140-471D-213CB204B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4636" y="834501"/>
            <a:ext cx="3276364" cy="57531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1991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C96BF-47D5-2CBF-75A3-B2FFFDC0C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584EC-BAEC-8E3C-E0DA-596639A23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834499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поиска нужного занятия на текущий момент времени, либо по указанному номеру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E13F4D6E-4DAE-A284-8124-E6302AD62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12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954F1AB-D4F3-C0C9-FDD5-77DACEF33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764" y="834501"/>
            <a:ext cx="3245770" cy="56994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0285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618565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главной страницы</a:t>
            </a: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13</a:t>
            </a:fld>
            <a:endParaRPr lang="ru-RU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2002790" y="1109662"/>
            <a:ext cx="5138420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250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618565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страницы журнала посещаемости</a:t>
            </a: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14</a:t>
            </a:fld>
            <a:endParaRPr lang="ru-RU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847850" y="1805940"/>
            <a:ext cx="5448300" cy="324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651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618565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страницы просмотра статистики</a:t>
            </a: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15</a:t>
            </a:fld>
            <a:endParaRPr lang="ru-RU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2402180" y="825158"/>
            <a:ext cx="4055770" cy="3269329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1920988" y="4301078"/>
            <a:ext cx="5018153" cy="176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085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16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468" y="1635019"/>
            <a:ext cx="7259063" cy="3400900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628650" y="2"/>
            <a:ext cx="7886700" cy="618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страницы деления на подгруппы</a:t>
            </a:r>
          </a:p>
        </p:txBody>
      </p:sp>
    </p:spTree>
    <p:extLst>
      <p:ext uri="{BB962C8B-B14F-4D97-AF65-F5344CB8AC3E}">
        <p14:creationId xmlns:p14="http://schemas.microsoft.com/office/powerpoint/2010/main" val="126862034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829EC-456C-19B9-544F-CDCB6CDD6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9A57E9-76F0-F5A9-7215-6F8645089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17</a:t>
            </a:fld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EB4F014-1D76-3442-B5F2-128407E8E0CE}"/>
              </a:ext>
            </a:extLst>
          </p:cNvPr>
          <p:cNvSpPr txBox="1">
            <a:spLocks/>
          </p:cNvSpPr>
          <p:nvPr/>
        </p:nvSpPr>
        <p:spPr>
          <a:xfrm>
            <a:off x="628650" y="2"/>
            <a:ext cx="7886700" cy="618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Адаптированный под мобильные устройства интерфейс страницы журнала посещаемости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45E9A0-0FAD-272B-0591-F3B833024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C44E5A5-5176-6CCF-67C1-664086027E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644" y="830814"/>
            <a:ext cx="2338711" cy="51963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9094091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49BF2-3191-BB90-CB8F-20279E686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97D7B8-A329-824C-C9EB-DD1D84F9C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18</a:t>
            </a:fld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50042D6-CABD-075E-594F-EACD72B7AD9A}"/>
              </a:ext>
            </a:extLst>
          </p:cNvPr>
          <p:cNvSpPr txBox="1">
            <a:spLocks/>
          </p:cNvSpPr>
          <p:nvPr/>
        </p:nvSpPr>
        <p:spPr>
          <a:xfrm>
            <a:off x="628650" y="2"/>
            <a:ext cx="7886700" cy="618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результатов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C5F8A0C8-B366-C133-FBFD-C23E41601167}"/>
              </a:ext>
            </a:extLst>
          </p:cNvPr>
          <p:cNvSpPr txBox="1">
            <a:spLocks/>
          </p:cNvSpPr>
          <p:nvPr/>
        </p:nvSpPr>
        <p:spPr>
          <a:xfrm>
            <a:off x="628650" y="951392"/>
            <a:ext cx="8151366" cy="52008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разработанной подсистемы позволило получить следующие улучшения по сравнению с существующей системой учета посещаемости: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Благодаря реализации автоматического выбора занятия по текущему времени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 троичной логики и логирования событий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Разделение на подгруппы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надежности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98878471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412</TotalTime>
  <Words>532</Words>
  <Application>Microsoft Office PowerPoint</Application>
  <PresentationFormat>Экран (4:3)</PresentationFormat>
  <Paragraphs>118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Тема Office</vt:lpstr>
      <vt:lpstr>    </vt:lpstr>
      <vt:lpstr>Презентация PowerPoint</vt:lpstr>
      <vt:lpstr>Презентация PowerPoint</vt:lpstr>
      <vt:lpstr>Анализ существующих методов решения поставленной задачи</vt:lpstr>
      <vt:lpstr>Сравнение аналогичных решений</vt:lpstr>
      <vt:lpstr>Функциональные требования </vt:lpstr>
      <vt:lpstr>Функциональные спецификация подсистемы</vt:lpstr>
      <vt:lpstr>Информационная спецификация подсистемы</vt:lpstr>
      <vt:lpstr>Презентация PowerPoint</vt:lpstr>
      <vt:lpstr>Презентация PowerPoint</vt:lpstr>
      <vt:lpstr>Алгоритм формирования страницы журнала посещаемости для группы на текущую дату </vt:lpstr>
      <vt:lpstr>Алгоритм поиска нужного занятия на текущий момент времени, либо по указанному номеру</vt:lpstr>
      <vt:lpstr>Интерфейс главной страницы</vt:lpstr>
      <vt:lpstr>Интерфейс страницы журнала посещаемости</vt:lpstr>
      <vt:lpstr>Интерфейс страницы просмотра статистики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</dc:title>
  <dc:creator>alexandr korotkiy</dc:creator>
  <cp:lastModifiedBy>Ivan Vasileniya</cp:lastModifiedBy>
  <cp:revision>41</cp:revision>
  <dcterms:created xsi:type="dcterms:W3CDTF">2023-05-23T11:47:02Z</dcterms:created>
  <dcterms:modified xsi:type="dcterms:W3CDTF">2026-05-18T19:38:03Z</dcterms:modified>
</cp:coreProperties>
</file>