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277" r:id="rId3"/>
    <p:sldId id="278" r:id="rId4"/>
    <p:sldId id="280" r:id="rId5"/>
    <p:sldId id="282" r:id="rId6"/>
    <p:sldId id="284" r:id="rId7"/>
    <p:sldId id="286" r:id="rId8"/>
  </p:sldIdLst>
  <p:sldSz cx="10691813" cy="7559675"/>
  <p:notesSz cx="6761163" cy="99425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3" autoAdjust="0"/>
    <p:restoredTop sz="94651" autoAdjust="0"/>
  </p:normalViewPr>
  <p:slideViewPr>
    <p:cSldViewPr snapToGrid="0">
      <p:cViewPr varScale="1">
        <p:scale>
          <a:sx n="99" d="100"/>
          <a:sy n="99" d="100"/>
        </p:scale>
        <p:origin x="17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A3B39-FE63-434E-AB9C-F87AF0466FCD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08063" y="1243013"/>
            <a:ext cx="47450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C364F-F8CC-47C4-9B50-43B8A9D1E2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39ECB-35BB-47E3-A569-D40D884548C4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51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DBFA7-04DC-4042-9487-9943C96D0EA0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46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246E-416F-4CF0-B768-3AF4C23B2C03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970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75797-ACF3-47A1-B235-FCF79E909B8F}" type="datetime1">
              <a:rPr lang="ru-RU" smtClean="0"/>
              <a:t>27.12.2025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1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1D5D-FA8A-4E87-AEE5-53FC8E9C529F}" type="datetime1">
              <a:rPr lang="ru-RU" smtClean="0"/>
              <a:t>27.12.2025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30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7DFB-E632-4C6D-A9E1-3925D811D561}" type="datetime1">
              <a:rPr lang="ru-RU" smtClean="0"/>
              <a:t>27.12.2025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72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8E215-C6A9-4473-87F4-81BFEC50F53C}" type="datetime1">
              <a:rPr lang="ru-RU" smtClean="0"/>
              <a:t>27.12.2025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77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6F55-8C2A-42C9-8F07-2D37B8D47068}" type="datetime1">
              <a:rPr lang="ru-RU" smtClean="0"/>
              <a:t>27.12.2025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34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59D5-AE64-40D1-8DB1-A121067050E1}" type="datetime1">
              <a:rPr lang="ru-RU" smtClean="0"/>
              <a:t>27.12.2025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21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D3EB-22A1-41CC-9F98-985918856F96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06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023D0-1694-43EE-87FB-4253F8D62945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23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2C624-7EFC-46A2-9304-A58646640221}" type="datetime1">
              <a:rPr lang="ru-RU" smtClean="0"/>
              <a:t>27.12.2025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74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64650" y="2186751"/>
            <a:ext cx="8562512" cy="174533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Основы системного анализа</a:t>
            </a:r>
            <a:endParaRPr lang="ru-RU" sz="2105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871104" y="4988868"/>
            <a:ext cx="5209993" cy="836200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ru-RU" dirty="0" smtClean="0"/>
              <a:t>Студент: </a:t>
            </a:r>
            <a:r>
              <a:rPr lang="ru-RU" dirty="0" err="1" smtClean="0"/>
              <a:t>Василения</a:t>
            </a:r>
            <a:r>
              <a:rPr lang="ru-RU" dirty="0" smtClean="0"/>
              <a:t> Иван Валерьевич</a:t>
            </a:r>
          </a:p>
          <a:p>
            <a:pPr algn="r"/>
            <a:r>
              <a:rPr lang="ru-RU" dirty="0" smtClean="0"/>
              <a:t>Преподаватель: Раков Владимир Иванович</a:t>
            </a: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4049636" y="6643599"/>
            <a:ext cx="2592540" cy="476497"/>
          </a:xfrm>
          <a:prstGeom prst="rect">
            <a:avLst/>
          </a:prstGeom>
        </p:spPr>
        <p:txBody>
          <a:bodyPr vert="horz" lIns="80189" tIns="40094" rIns="80189" bIns="40094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754" dirty="0" smtClean="0"/>
              <a:t>Орёл, 2025г</a:t>
            </a:r>
            <a:r>
              <a:rPr lang="ru-RU" sz="1754" dirty="0"/>
              <a:t>.</a:t>
            </a:r>
            <a:endParaRPr lang="ru-RU" sz="1403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1064650" y="3925782"/>
            <a:ext cx="8562512" cy="394100"/>
          </a:xfrm>
          <a:prstGeom prst="rect">
            <a:avLst/>
          </a:prstGeom>
        </p:spPr>
        <p:txBody>
          <a:bodyPr vert="horz" lIns="80189" tIns="40094" rIns="80189" bIns="40094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105" dirty="0"/>
              <a:t>Лабораторная работа </a:t>
            </a:r>
            <a:r>
              <a:rPr lang="ru-RU" sz="2105" dirty="0" smtClean="0"/>
              <a:t>№</a:t>
            </a:r>
            <a:r>
              <a:rPr lang="en-US" sz="2105" dirty="0"/>
              <a:t>4</a:t>
            </a:r>
            <a:endParaRPr lang="ru-RU" sz="2105" dirty="0"/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1064651" y="643303"/>
            <a:ext cx="8562511" cy="932159"/>
          </a:xfrm>
          <a:prstGeom prst="rect">
            <a:avLst/>
          </a:prstGeom>
        </p:spPr>
        <p:txBody>
          <a:bodyPr vert="horz" lIns="80189" tIns="40094" rIns="80189" bIns="40094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/>
              <a:t>Орловский государственный </a:t>
            </a:r>
            <a:r>
              <a:rPr lang="ru-RU" sz="2800" dirty="0" smtClean="0"/>
              <a:t>университет</a:t>
            </a:r>
          </a:p>
          <a:p>
            <a:r>
              <a:rPr lang="ru-RU" sz="2800" dirty="0" smtClean="0"/>
              <a:t>имени </a:t>
            </a:r>
            <a:r>
              <a:rPr lang="ru-RU" sz="2800" dirty="0"/>
              <a:t>И.С. Тургенева</a:t>
            </a:r>
          </a:p>
        </p:txBody>
      </p:sp>
    </p:spTree>
    <p:extLst>
      <p:ext uri="{BB962C8B-B14F-4D97-AF65-F5344CB8AC3E}">
        <p14:creationId xmlns:p14="http://schemas.microsoft.com/office/powerpoint/2010/main" val="38266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2</a:t>
            </a:fld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599180" y="288757"/>
            <a:ext cx="9357571" cy="1078029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dirty="0"/>
              <a:t>Условия появления необходимости в использовании системного </a:t>
            </a:r>
            <a:r>
              <a:rPr lang="ru-RU" sz="2000" dirty="0" smtClean="0"/>
              <a:t>анализа обуславливаются</a:t>
            </a:r>
            <a:r>
              <a:rPr lang="ru-RU" sz="2000" dirty="0"/>
              <a:t>: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599179" y="1856071"/>
            <a:ext cx="9357571" cy="579121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 smtClean="0"/>
              <a:t>I. </a:t>
            </a:r>
            <a:r>
              <a:rPr lang="ru-RU" dirty="0" smtClean="0"/>
              <a:t>Представлениями </a:t>
            </a:r>
            <a:r>
              <a:rPr lang="ru-RU" dirty="0"/>
              <a:t>об усложнении процессов организации производств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599179" y="4113751"/>
            <a:ext cx="3433806" cy="1271090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a. </a:t>
            </a:r>
            <a:r>
              <a:rPr lang="ru-RU" dirty="0" smtClean="0"/>
              <a:t>Увеличение </a:t>
            </a:r>
            <a:r>
              <a:rPr lang="ru-RU" dirty="0"/>
              <a:t>выпуска промышленной продукции, расширение ее номенклатуры и </a:t>
            </a:r>
            <a:r>
              <a:rPr lang="ru-RU" dirty="0" smtClean="0"/>
              <a:t>ассортимента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4497412" y="4113752"/>
            <a:ext cx="2249900" cy="1271090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 smtClean="0"/>
              <a:t>б. Усложнение </a:t>
            </a:r>
            <a:r>
              <a:rPr lang="ru-RU" dirty="0"/>
              <a:t>выпуска изделий и технология их </a:t>
            </a:r>
            <a:r>
              <a:rPr lang="ru-RU" dirty="0" smtClean="0"/>
              <a:t>производства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7211739" y="4113751"/>
            <a:ext cx="2598012" cy="1271090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 smtClean="0"/>
              <a:t>в. Увеличение </a:t>
            </a:r>
            <a:r>
              <a:rPr lang="ru-RU" dirty="0"/>
              <a:t>частоты сменяемости выпускаемых изделий и </a:t>
            </a:r>
            <a:r>
              <a:rPr lang="ru-RU" dirty="0" smtClean="0"/>
              <a:t>технологий</a:t>
            </a:r>
            <a:endParaRPr lang="ru-RU" dirty="0"/>
          </a:p>
        </p:txBody>
      </p:sp>
      <p:cxnSp>
        <p:nvCxnSpPr>
          <p:cNvPr id="18" name="Прямая со стрелкой 17"/>
          <p:cNvCxnSpPr>
            <a:endCxn id="15" idx="0"/>
          </p:cNvCxnSpPr>
          <p:nvPr/>
        </p:nvCxnSpPr>
        <p:spPr>
          <a:xfrm flipH="1">
            <a:off x="2316082" y="2435192"/>
            <a:ext cx="1668" cy="167855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H="1">
            <a:off x="5548232" y="2423505"/>
            <a:ext cx="1668" cy="167855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H="1">
            <a:off x="8752254" y="2423505"/>
            <a:ext cx="1668" cy="167855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36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3</a:t>
            </a:fld>
            <a:endParaRPr lang="ru-RU" sz="2400"/>
          </a:p>
        </p:txBody>
      </p:sp>
      <p:sp>
        <p:nvSpPr>
          <p:cNvPr id="10" name="Прямоугольник 9"/>
          <p:cNvSpPr/>
          <p:nvPr/>
        </p:nvSpPr>
        <p:spPr>
          <a:xfrm>
            <a:off x="599180" y="288757"/>
            <a:ext cx="9357571" cy="1078029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dirty="0"/>
              <a:t>Условия появления необходимости в использовании системного </a:t>
            </a:r>
            <a:r>
              <a:rPr lang="ru-RU" sz="2000" dirty="0" smtClean="0"/>
              <a:t>анализа обуславливаются</a:t>
            </a:r>
            <a:r>
              <a:rPr lang="ru-RU" sz="2000" dirty="0"/>
              <a:t>: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599179" y="1856071"/>
            <a:ext cx="9357571" cy="579121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 smtClean="0"/>
              <a:t>I. </a:t>
            </a:r>
            <a:r>
              <a:rPr lang="ru-RU" dirty="0" smtClean="0"/>
              <a:t>Представлениями </a:t>
            </a:r>
            <a:r>
              <a:rPr lang="ru-RU" dirty="0"/>
              <a:t>об усложнении процессов организации производств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599179" y="4113751"/>
            <a:ext cx="3433806" cy="1271090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 smtClean="0"/>
              <a:t>г. Возрастание </a:t>
            </a:r>
            <a:r>
              <a:rPr lang="ru-RU" dirty="0"/>
              <a:t>наукоёмкой продукции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4497412" y="4113752"/>
            <a:ext cx="2249900" cy="1271090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 smtClean="0"/>
              <a:t>д. Развитие </a:t>
            </a:r>
            <a:r>
              <a:rPr lang="ru-RU" dirty="0"/>
              <a:t>специализации и кооперирования </a:t>
            </a:r>
            <a:r>
              <a:rPr lang="ru-RU" dirty="0" smtClean="0"/>
              <a:t>производства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7211739" y="4113751"/>
            <a:ext cx="2598012" cy="1271090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 smtClean="0"/>
              <a:t>е. Необходимость </a:t>
            </a:r>
            <a:r>
              <a:rPr lang="ru-RU" dirty="0"/>
              <a:t>экономии ресурсов и охраны окружающей </a:t>
            </a:r>
            <a:r>
              <a:rPr lang="ru-RU" dirty="0" smtClean="0"/>
              <a:t>среды</a:t>
            </a:r>
            <a:endParaRPr lang="ru-RU" dirty="0"/>
          </a:p>
        </p:txBody>
      </p:sp>
      <p:cxnSp>
        <p:nvCxnSpPr>
          <p:cNvPr id="18" name="Прямая со стрелкой 17"/>
          <p:cNvCxnSpPr>
            <a:endCxn id="15" idx="0"/>
          </p:cNvCxnSpPr>
          <p:nvPr/>
        </p:nvCxnSpPr>
        <p:spPr>
          <a:xfrm flipH="1">
            <a:off x="2316082" y="2435192"/>
            <a:ext cx="1668" cy="167855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flipH="1">
            <a:off x="5548232" y="2423505"/>
            <a:ext cx="1668" cy="167855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H="1">
            <a:off x="8752254" y="2423505"/>
            <a:ext cx="1668" cy="167855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398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4</a:t>
            </a:fld>
            <a:endParaRPr lang="ru-RU" sz="240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963F34FB-EAD0-4CAD-9353-B92A41050CDF}"/>
              </a:ext>
            </a:extLst>
          </p:cNvPr>
          <p:cNvSpPr txBox="1">
            <a:spLocks/>
          </p:cNvSpPr>
          <p:nvPr/>
        </p:nvSpPr>
        <p:spPr>
          <a:xfrm>
            <a:off x="449676" y="2253946"/>
            <a:ext cx="9637599" cy="1616396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000" b="1" dirty="0"/>
              <a:t>Информационные барьеры академика Глушкова В.М. 1961г.:</a:t>
            </a:r>
          </a:p>
          <a:p>
            <a:pPr marL="0" indent="0">
              <a:buNone/>
            </a:pPr>
            <a:r>
              <a:rPr lang="ru-RU" sz="2000" dirty="0"/>
              <a:t>1. Первый информационный барьер — сложность задач управления коллективом стала превосходить способности одного человека. Произошло открытие идей распараллеливания решения задач управления: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015EC8-33AB-4A3C-B772-0DD2F7149CE6}"/>
              </a:ext>
            </a:extLst>
          </p:cNvPr>
          <p:cNvSpPr txBox="1"/>
          <p:nvPr/>
        </p:nvSpPr>
        <p:spPr>
          <a:xfrm>
            <a:off x="449676" y="4209051"/>
            <a:ext cx="6548907" cy="369332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/>
              <a:t>а) "механизм" иерархической (ярусной) системы управления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449676" y="508547"/>
            <a:ext cx="9357571" cy="579121"/>
          </a:xfrm>
          <a:prstGeom prst="rect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US" dirty="0" smtClean="0"/>
              <a:t>I</a:t>
            </a:r>
            <a:r>
              <a:rPr lang="en-US" dirty="0"/>
              <a:t>I</a:t>
            </a:r>
            <a:r>
              <a:rPr lang="en-US" dirty="0" smtClean="0"/>
              <a:t>. </a:t>
            </a:r>
            <a:r>
              <a:rPr lang="ru-RU" dirty="0"/>
              <a:t>Представлении об усложнении процессов управления в связи с возрастанием роли информации в процессах управления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015EC8-33AB-4A3C-B772-0DD2F7149CE6}"/>
              </a:ext>
            </a:extLst>
          </p:cNvPr>
          <p:cNvSpPr txBox="1"/>
          <p:nvPr/>
        </p:nvSpPr>
        <p:spPr>
          <a:xfrm>
            <a:off x="449676" y="4917092"/>
            <a:ext cx="9175587" cy="92333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/>
              <a:t>б) механизм товарно-денежных (рыночных) отношений, которые организуют не только потребление товаров, но и являются регулятором в схеме: производство — распределение — обмен — потребление.</a:t>
            </a:r>
          </a:p>
        </p:txBody>
      </p:sp>
    </p:spTree>
    <p:extLst>
      <p:ext uri="{BB962C8B-B14F-4D97-AF65-F5344CB8AC3E}">
        <p14:creationId xmlns:p14="http://schemas.microsoft.com/office/powerpoint/2010/main" val="3478733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5</a:t>
            </a:fld>
            <a:endParaRPr lang="ru-RU" sz="240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963F34FB-EAD0-4CAD-9353-B92A41050CDF}"/>
              </a:ext>
            </a:extLst>
          </p:cNvPr>
          <p:cNvSpPr txBox="1">
            <a:spLocks/>
          </p:cNvSpPr>
          <p:nvPr/>
        </p:nvSpPr>
        <p:spPr>
          <a:xfrm>
            <a:off x="254315" y="467515"/>
            <a:ext cx="10121719" cy="990881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80189" tIns="40094" rIns="80189" bIns="40094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754" b="1" dirty="0"/>
              <a:t>Информационные барьеры академика Глушкова В.М. 1961г.:</a:t>
            </a:r>
          </a:p>
          <a:p>
            <a:pPr marL="0" indent="0">
              <a:buNone/>
            </a:pPr>
            <a:r>
              <a:rPr lang="ru-RU" sz="1754" dirty="0"/>
              <a:t>2. Второй информационный барьер — ограниченная способность к переработке информации у всего населения страны.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3359A-A045-4272-BE7F-5DE43AA9C58E}"/>
              </a:ext>
            </a:extLst>
          </p:cNvPr>
          <p:cNvSpPr txBox="1"/>
          <p:nvPr/>
        </p:nvSpPr>
        <p:spPr>
          <a:xfrm>
            <a:off x="407145" y="2216891"/>
            <a:ext cx="1392954" cy="1307409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579" dirty="0"/>
              <a:t>Ограниченная способность к переработке информации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E917C-10A2-40F4-BF78-01CACF4FD98E}"/>
              </a:ext>
            </a:extLst>
          </p:cNvPr>
          <p:cNvSpPr txBox="1"/>
          <p:nvPr/>
        </p:nvSpPr>
        <p:spPr>
          <a:xfrm>
            <a:off x="4382862" y="2338399"/>
            <a:ext cx="1392954" cy="1064394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579" dirty="0"/>
              <a:t>Необходимость нанимать все больше управленцев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1914F5-B200-4F81-BFEE-4B0DF7E78B8B}"/>
              </a:ext>
            </a:extLst>
          </p:cNvPr>
          <p:cNvSpPr txBox="1"/>
          <p:nvPr/>
        </p:nvSpPr>
        <p:spPr>
          <a:xfrm>
            <a:off x="6333733" y="1973876"/>
            <a:ext cx="1575138" cy="179344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579" dirty="0"/>
              <a:t>Возникновение опасений, что в сфере управления будет занято все население страны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65F2AF4-F8E8-4DE0-9B83-06CFE4B4D610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 flipV="1">
            <a:off x="1800099" y="2870595"/>
            <a:ext cx="485272" cy="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05A3F8D-5B8B-45DB-84CC-4E5B218A23F2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775816" y="2870596"/>
            <a:ext cx="557917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31C91A-5147-4B24-B631-FEA3232BC499}"/>
              </a:ext>
            </a:extLst>
          </p:cNvPr>
          <p:cNvSpPr txBox="1"/>
          <p:nvPr/>
        </p:nvSpPr>
        <p:spPr>
          <a:xfrm>
            <a:off x="2285371" y="2095383"/>
            <a:ext cx="1612218" cy="1550424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579" dirty="0"/>
              <a:t>Сложность задач управления растёт быстрее числа занятых в ней людей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DA13E62-8501-42A0-92D6-1A0D067AC2AD}"/>
              </a:ext>
            </a:extLst>
          </p:cNvPr>
          <p:cNvCxnSpPr>
            <a:cxnSpLocks/>
            <a:stCxn id="13" idx="3"/>
            <a:endCxn id="9" idx="1"/>
          </p:cNvCxnSpPr>
          <p:nvPr/>
        </p:nvCxnSpPr>
        <p:spPr>
          <a:xfrm>
            <a:off x="3897589" y="2870595"/>
            <a:ext cx="485273" cy="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370000A-3133-4B35-972A-67C8E3888DFE}"/>
              </a:ext>
            </a:extLst>
          </p:cNvPr>
          <p:cNvSpPr txBox="1"/>
          <p:nvPr/>
        </p:nvSpPr>
        <p:spPr>
          <a:xfrm>
            <a:off x="8466788" y="1973876"/>
            <a:ext cx="1575138" cy="179344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579" dirty="0"/>
              <a:t>Необходимость перехода к новым технологиям сбора и обработки информации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E5A84DBE-4F17-4667-82CC-DE1C26895FB2}"/>
              </a:ext>
            </a:extLst>
          </p:cNvPr>
          <p:cNvCxnSpPr>
            <a:cxnSpLocks/>
            <a:stCxn id="10" idx="3"/>
            <a:endCxn id="19" idx="1"/>
          </p:cNvCxnSpPr>
          <p:nvPr/>
        </p:nvCxnSpPr>
        <p:spPr>
          <a:xfrm>
            <a:off x="7908871" y="2870596"/>
            <a:ext cx="557917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7FA9954-E8E0-4A98-9B53-1002481C0110}"/>
              </a:ext>
            </a:extLst>
          </p:cNvPr>
          <p:cNvSpPr txBox="1"/>
          <p:nvPr/>
        </p:nvSpPr>
        <p:spPr>
          <a:xfrm>
            <a:off x="585802" y="4688180"/>
            <a:ext cx="9370949" cy="1064394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579" dirty="0"/>
              <a:t>Открытие идеи о потребности изменения технологии сбора и обработки (экономической) информации в связи с тем, что сложность задач управления (экономикой) растет быстрее числа занятых в ней людей и без изменения методов обработки информации возможна опасность занятости в сфере управления всего населения страны.</a:t>
            </a:r>
          </a:p>
        </p:txBody>
      </p:sp>
    </p:spTree>
    <p:extLst>
      <p:ext uri="{BB962C8B-B14F-4D97-AF65-F5344CB8AC3E}">
        <p14:creationId xmlns:p14="http://schemas.microsoft.com/office/powerpoint/2010/main" val="5251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6</a:t>
            </a:fld>
            <a:endParaRPr lang="ru-RU" sz="2400"/>
          </a:p>
        </p:txBody>
      </p:sp>
      <p:sp>
        <p:nvSpPr>
          <p:cNvPr id="33" name="Объект 2">
            <a:extLst>
              <a:ext uri="{FF2B5EF4-FFF2-40B4-BE49-F238E27FC236}">
                <a16:creationId xmlns:a16="http://schemas.microsoft.com/office/drawing/2014/main" id="{963F34FB-EAD0-4CAD-9353-B92A41050CDF}"/>
              </a:ext>
            </a:extLst>
          </p:cNvPr>
          <p:cNvSpPr txBox="1">
            <a:spLocks/>
          </p:cNvSpPr>
          <p:nvPr/>
        </p:nvSpPr>
        <p:spPr>
          <a:xfrm>
            <a:off x="730899" y="4032985"/>
            <a:ext cx="8903989" cy="1015557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80189" tIns="40094" rIns="80189" bIns="40094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754" dirty="0"/>
              <a:t>В процессе изучения особенностей функционирования и развития сложных систем с активными элементами был выявлен </a:t>
            </a:r>
            <a:r>
              <a:rPr lang="ru-RU" sz="1754" b="1" dirty="0"/>
              <a:t>ряд</a:t>
            </a:r>
            <a:r>
              <a:rPr lang="ru-RU" sz="1754" dirty="0"/>
              <a:t> </a:t>
            </a:r>
            <a:r>
              <a:rPr lang="ru-RU" sz="1754" b="1" dirty="0"/>
              <a:t>закономерностей</a:t>
            </a:r>
            <a:r>
              <a:rPr lang="ru-RU" sz="1754" dirty="0"/>
              <a:t>, помогающих понять диалектику (динамику) </a:t>
            </a:r>
            <a:r>
              <a:rPr lang="ru-RU" sz="1754" b="1" dirty="0"/>
              <a:t>взаимодействия части и целого</a:t>
            </a:r>
            <a:r>
              <a:rPr lang="ru-RU" sz="1754" dirty="0"/>
              <a:t> в системе и формировать более адекватные модели принятия решений: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F0EEFE-1C96-485F-B779-DFA6A3E631BF}"/>
              </a:ext>
            </a:extLst>
          </p:cNvPr>
          <p:cNvSpPr txBox="1"/>
          <p:nvPr/>
        </p:nvSpPr>
        <p:spPr>
          <a:xfrm>
            <a:off x="903659" y="5531444"/>
            <a:ext cx="4008298" cy="130740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ru-RU" sz="1579" b="1" dirty="0"/>
              <a:t>Закономерность целостности. </a:t>
            </a:r>
            <a:r>
              <a:rPr lang="ru-RU" sz="1579" dirty="0"/>
              <a:t>Она</a:t>
            </a:r>
            <a:r>
              <a:rPr lang="ru-RU" sz="1579" b="1" dirty="0"/>
              <a:t> </a:t>
            </a:r>
            <a:r>
              <a:rPr lang="ru-RU" sz="1579" dirty="0"/>
              <a:t>проявляется в системе в возникновении у нее "новых интегративных качеств, не свойственных ее компонентам" (профессор Абрамова 1974 г.)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A5AB21-4C84-4E7E-8E8E-B5DC31CDA815}"/>
              </a:ext>
            </a:extLst>
          </p:cNvPr>
          <p:cNvSpPr txBox="1"/>
          <p:nvPr/>
        </p:nvSpPr>
        <p:spPr>
          <a:xfrm>
            <a:off x="6799005" y="5531445"/>
            <a:ext cx="3504615" cy="82137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ru-RU" sz="1579" b="1" dirty="0"/>
              <a:t>Закономерность </a:t>
            </a:r>
            <a:r>
              <a:rPr lang="ru-RU" sz="1579" b="1" dirty="0" err="1"/>
              <a:t>интегративности</a:t>
            </a:r>
            <a:r>
              <a:rPr lang="ru-RU" sz="1579" dirty="0"/>
              <a:t> — это то, что обеспечивает сохранение целостности.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720109-387E-45A6-BC75-A1223ED36600}"/>
              </a:ext>
            </a:extLst>
          </p:cNvPr>
          <p:cNvSpPr txBox="1"/>
          <p:nvPr/>
        </p:nvSpPr>
        <p:spPr>
          <a:xfrm>
            <a:off x="3471361" y="1323711"/>
            <a:ext cx="3034296" cy="57836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579" dirty="0"/>
              <a:t>Цели изучения закономерностей взаимодействия целого и части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170E5F-00C1-4202-9E5E-C9CEE0D881A5}"/>
              </a:ext>
            </a:extLst>
          </p:cNvPr>
          <p:cNvSpPr txBox="1"/>
          <p:nvPr/>
        </p:nvSpPr>
        <p:spPr>
          <a:xfrm>
            <a:off x="110645" y="2739603"/>
            <a:ext cx="2796700" cy="82137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579" dirty="0"/>
              <a:t>Учет закономерностей при проектировании взаимодействующих систем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A4C7B4-56BC-4698-8571-71FFE455886B}"/>
              </a:ext>
            </a:extLst>
          </p:cNvPr>
          <p:cNvSpPr txBox="1"/>
          <p:nvPr/>
        </p:nvSpPr>
        <p:spPr>
          <a:xfrm>
            <a:off x="3058315" y="2739603"/>
            <a:ext cx="2796700" cy="57836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579" dirty="0"/>
              <a:t>Перенос закономерностей старой системы в новую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750B02-AB7C-40FB-B6C2-88B3F5349878}"/>
              </a:ext>
            </a:extLst>
          </p:cNvPr>
          <p:cNvSpPr txBox="1"/>
          <p:nvPr/>
        </p:nvSpPr>
        <p:spPr>
          <a:xfrm>
            <a:off x="6053015" y="2739603"/>
            <a:ext cx="2370520" cy="57836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579" dirty="0"/>
              <a:t> Диагностика неисправностей системы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5101E8-7F80-4005-A79A-EDA8B3CF91D6}"/>
              </a:ext>
            </a:extLst>
          </p:cNvPr>
          <p:cNvSpPr txBox="1"/>
          <p:nvPr/>
        </p:nvSpPr>
        <p:spPr>
          <a:xfrm>
            <a:off x="8587371" y="2739603"/>
            <a:ext cx="1880479" cy="82137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579" dirty="0"/>
              <a:t>Формирование понимания вклада частей в целое</a:t>
            </a:r>
          </a:p>
        </p:txBody>
      </p:sp>
      <p:cxnSp>
        <p:nvCxnSpPr>
          <p:cNvPr id="43" name="Соединитель: уступ 8">
            <a:extLst>
              <a:ext uri="{FF2B5EF4-FFF2-40B4-BE49-F238E27FC236}">
                <a16:creationId xmlns:a16="http://schemas.microsoft.com/office/drawing/2014/main" id="{71E043F2-53DE-4AED-B80E-79986CC99CC8}"/>
              </a:ext>
            </a:extLst>
          </p:cNvPr>
          <p:cNvCxnSpPr>
            <a:stCxn id="38" idx="2"/>
            <a:endCxn id="40" idx="0"/>
          </p:cNvCxnSpPr>
          <p:nvPr/>
        </p:nvCxnSpPr>
        <p:spPr>
          <a:xfrm rot="5400000">
            <a:off x="4303823" y="2054916"/>
            <a:ext cx="837529" cy="531844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: уступ 27">
            <a:extLst>
              <a:ext uri="{FF2B5EF4-FFF2-40B4-BE49-F238E27FC236}">
                <a16:creationId xmlns:a16="http://schemas.microsoft.com/office/drawing/2014/main" id="{DE3D9684-7576-45D8-BCD6-39C802001D59}"/>
              </a:ext>
            </a:extLst>
          </p:cNvPr>
          <p:cNvCxnSpPr>
            <a:cxnSpLocks/>
            <a:stCxn id="38" idx="2"/>
            <a:endCxn id="41" idx="0"/>
          </p:cNvCxnSpPr>
          <p:nvPr/>
        </p:nvCxnSpPr>
        <p:spPr>
          <a:xfrm rot="16200000" flipH="1">
            <a:off x="5694628" y="1195955"/>
            <a:ext cx="837529" cy="2249766"/>
          </a:xfrm>
          <a:prstGeom prst="bentConnector3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: уступ 28">
            <a:extLst>
              <a:ext uri="{FF2B5EF4-FFF2-40B4-BE49-F238E27FC236}">
                <a16:creationId xmlns:a16="http://schemas.microsoft.com/office/drawing/2014/main" id="{5A72F769-D7F7-41F2-B49D-BB2B01823CAA}"/>
              </a:ext>
            </a:extLst>
          </p:cNvPr>
          <p:cNvCxnSpPr>
            <a:cxnSpLocks/>
            <a:stCxn id="38" idx="2"/>
            <a:endCxn id="42" idx="0"/>
          </p:cNvCxnSpPr>
          <p:nvPr/>
        </p:nvCxnSpPr>
        <p:spPr>
          <a:xfrm rot="16200000" flipH="1">
            <a:off x="6839296" y="51287"/>
            <a:ext cx="837529" cy="453910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: уступ 31">
            <a:extLst>
              <a:ext uri="{FF2B5EF4-FFF2-40B4-BE49-F238E27FC236}">
                <a16:creationId xmlns:a16="http://schemas.microsoft.com/office/drawing/2014/main" id="{EA5778C6-4C92-4AA6-A55B-40C954EB9FF6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 rot="5400000">
            <a:off x="2829988" y="581081"/>
            <a:ext cx="837529" cy="347951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56B3C60-50DF-4524-8B2D-694127E9873C}"/>
              </a:ext>
            </a:extLst>
          </p:cNvPr>
          <p:cNvSpPr txBox="1"/>
          <p:nvPr/>
        </p:nvSpPr>
        <p:spPr>
          <a:xfrm>
            <a:off x="3009524" y="341672"/>
            <a:ext cx="3957970" cy="33534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ru-RU" sz="1579" b="1" dirty="0"/>
              <a:t>Закономерность</a:t>
            </a:r>
            <a:r>
              <a:rPr lang="ru-RU" sz="1579" dirty="0"/>
              <a:t> – </a:t>
            </a:r>
            <a:r>
              <a:rPr lang="ru-RU" sz="1579" dirty="0" smtClean="0"/>
              <a:t>повторяемость в </a:t>
            </a:r>
            <a:r>
              <a:rPr lang="ru-RU" sz="1579" dirty="0"/>
              <a:t>серии</a:t>
            </a: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C65F2AF4-F8E8-4DE0-9B83-06CFE4B4D610}"/>
              </a:ext>
            </a:extLst>
          </p:cNvPr>
          <p:cNvCxnSpPr>
            <a:cxnSpLocks/>
          </p:cNvCxnSpPr>
          <p:nvPr/>
        </p:nvCxnSpPr>
        <p:spPr>
          <a:xfrm flipH="1">
            <a:off x="3276957" y="5096011"/>
            <a:ext cx="227154" cy="42445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C65F2AF4-F8E8-4DE0-9B83-06CFE4B4D610}"/>
              </a:ext>
            </a:extLst>
          </p:cNvPr>
          <p:cNvCxnSpPr>
            <a:cxnSpLocks/>
          </p:cNvCxnSpPr>
          <p:nvPr/>
        </p:nvCxnSpPr>
        <p:spPr>
          <a:xfrm>
            <a:off x="8478768" y="5077764"/>
            <a:ext cx="145467" cy="45368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794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7</a:t>
            </a:fld>
            <a:endParaRPr lang="ru-RU" sz="2400"/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0A4DF525-1AC9-434B-9FB4-68CE8798E312}"/>
              </a:ext>
            </a:extLst>
          </p:cNvPr>
          <p:cNvSpPr txBox="1">
            <a:spLocks/>
          </p:cNvSpPr>
          <p:nvPr/>
        </p:nvSpPr>
        <p:spPr>
          <a:xfrm>
            <a:off x="2316406" y="984105"/>
            <a:ext cx="6134575" cy="407124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80189" tIns="40094" rIns="80189" bIns="40094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754" b="1" dirty="0"/>
              <a:t>Закономерности целостности </a:t>
            </a:r>
            <a:r>
              <a:rPr lang="ru-RU" sz="1754" dirty="0"/>
              <a:t>характерны две особенности:</a:t>
            </a:r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23B84A3A-50DB-43E4-845F-0AECD825261D}"/>
              </a:ext>
            </a:extLst>
          </p:cNvPr>
          <p:cNvSpPr txBox="1">
            <a:spLocks/>
          </p:cNvSpPr>
          <p:nvPr/>
        </p:nvSpPr>
        <p:spPr>
          <a:xfrm>
            <a:off x="925419" y="1917673"/>
            <a:ext cx="3386699" cy="572932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80189" tIns="40094" rIns="80189" bIns="40094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754" dirty="0"/>
              <a:t>1. Свойства системы не являются суммой свойств элементов</a:t>
            </a:r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30575DCE-70BA-4E5A-B7D7-7432971B1050}"/>
              </a:ext>
            </a:extLst>
          </p:cNvPr>
          <p:cNvSpPr txBox="1">
            <a:spLocks/>
          </p:cNvSpPr>
          <p:nvPr/>
        </p:nvSpPr>
        <p:spPr>
          <a:xfrm>
            <a:off x="5784783" y="1917674"/>
            <a:ext cx="3951080" cy="572932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80189" tIns="40094" rIns="80189" bIns="40094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754" dirty="0"/>
              <a:t>2. Свойства системы (целого) зависят от свойства элементов</a:t>
            </a:r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24D87B2B-CF9D-4B12-A245-3B078636F2A0}"/>
              </a:ext>
            </a:extLst>
          </p:cNvPr>
          <p:cNvSpPr txBox="1">
            <a:spLocks/>
          </p:cNvSpPr>
          <p:nvPr/>
        </p:nvSpPr>
        <p:spPr>
          <a:xfrm>
            <a:off x="925419" y="2921737"/>
            <a:ext cx="9031332" cy="835405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80189" tIns="40094" rIns="80189" bIns="40094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754" dirty="0"/>
              <a:t>Кроме этих двух сторон, стоит иметь в виду, что объединенные в систему элементы или части могут терять ряд свойств, присущих им вне системы, то есть системы подавляет некоторые свойства своих элементов (частей).</a:t>
            </a:r>
          </a:p>
        </p:txBody>
      </p: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C65F2AF4-F8E8-4DE0-9B83-06CFE4B4D610}"/>
              </a:ext>
            </a:extLst>
          </p:cNvPr>
          <p:cNvCxnSpPr>
            <a:cxnSpLocks/>
          </p:cNvCxnSpPr>
          <p:nvPr/>
        </p:nvCxnSpPr>
        <p:spPr>
          <a:xfrm flipH="1">
            <a:off x="3315458" y="1442222"/>
            <a:ext cx="227154" cy="424457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C65F2AF4-F8E8-4DE0-9B83-06CFE4B4D610}"/>
              </a:ext>
            </a:extLst>
          </p:cNvPr>
          <p:cNvCxnSpPr>
            <a:cxnSpLocks/>
          </p:cNvCxnSpPr>
          <p:nvPr/>
        </p:nvCxnSpPr>
        <p:spPr>
          <a:xfrm>
            <a:off x="7188983" y="1442221"/>
            <a:ext cx="260971" cy="42445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бъект 2">
            <a:extLst>
              <a:ext uri="{FF2B5EF4-FFF2-40B4-BE49-F238E27FC236}">
                <a16:creationId xmlns:a16="http://schemas.microsoft.com/office/drawing/2014/main" id="{24D87B2B-CF9D-4B12-A245-3B078636F2A0}"/>
              </a:ext>
            </a:extLst>
          </p:cNvPr>
          <p:cNvSpPr txBox="1">
            <a:spLocks/>
          </p:cNvSpPr>
          <p:nvPr/>
        </p:nvSpPr>
        <p:spPr>
          <a:xfrm>
            <a:off x="925419" y="4626075"/>
            <a:ext cx="9031332" cy="682110"/>
          </a:xfrm>
          <a:prstGeom prst="rect">
            <a:avLst/>
          </a:prstGeom>
          <a:ln w="28575" cap="flat" cmpd="sng" algn="ctr">
            <a:solidFill>
              <a:schemeClr val="accent6"/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80189" tIns="40094" rIns="80189" bIns="40094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754" b="1" dirty="0" smtClean="0"/>
              <a:t>Закономерность </a:t>
            </a:r>
            <a:r>
              <a:rPr lang="ru-RU" sz="1754" b="1" dirty="0" err="1" smtClean="0"/>
              <a:t>коммуникативности</a:t>
            </a:r>
            <a:r>
              <a:rPr lang="ru-RU" sz="1754" dirty="0" smtClean="0"/>
              <a:t> составляет </a:t>
            </a:r>
            <a:r>
              <a:rPr lang="ru-RU" sz="1754" dirty="0"/>
              <a:t>основу представления о том, что система не изолирована от других систем, она связана множеством коммуникаций с средой</a:t>
            </a:r>
            <a:endParaRPr lang="ru-RU" sz="1754" dirty="0"/>
          </a:p>
        </p:txBody>
      </p:sp>
    </p:spTree>
    <p:extLst>
      <p:ext uri="{BB962C8B-B14F-4D97-AF65-F5344CB8AC3E}">
        <p14:creationId xmlns:p14="http://schemas.microsoft.com/office/powerpoint/2010/main" val="214597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4589</TotalTime>
  <Words>517</Words>
  <Application>Microsoft Office PowerPoint</Application>
  <PresentationFormat>Произвольный</PresentationFormat>
  <Paragraphs>50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Основы системного анализа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системного анализа</dc:title>
  <dc:creator>Aunafae</dc:creator>
  <cp:lastModifiedBy>ИВАН</cp:lastModifiedBy>
  <cp:revision>234</cp:revision>
  <cp:lastPrinted>2025-12-11T17:44:24Z</cp:lastPrinted>
  <dcterms:created xsi:type="dcterms:W3CDTF">2025-09-24T20:04:47Z</dcterms:created>
  <dcterms:modified xsi:type="dcterms:W3CDTF">2025-12-27T15:40:42Z</dcterms:modified>
</cp:coreProperties>
</file>