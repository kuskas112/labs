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2"/>
  </p:notesMasterIdLst>
  <p:sldIdLst>
    <p:sldId id="283" r:id="rId2"/>
    <p:sldId id="277" r:id="rId3"/>
    <p:sldId id="258" r:id="rId4"/>
    <p:sldId id="278" r:id="rId5"/>
    <p:sldId id="279" r:id="rId6"/>
    <p:sldId id="281" r:id="rId7"/>
    <p:sldId id="284" r:id="rId8"/>
    <p:sldId id="285" r:id="rId9"/>
    <p:sldId id="270" r:id="rId10"/>
    <p:sldId id="274" r:id="rId11"/>
  </p:sldIdLst>
  <p:sldSz cx="12192000" cy="6858000"/>
  <p:notesSz cx="6858000" cy="9945688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77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D2B79C5-AC2B-4363-8344-9AD7DD9A0839}" type="doc">
      <dgm:prSet loTypeId="urn:microsoft.com/office/officeart/2005/8/layout/orgChart1" loCatId="hierarchy" qsTypeId="urn:microsoft.com/office/officeart/2005/8/quickstyle/3d3" qsCatId="3D" csTypeId="urn:microsoft.com/office/officeart/2005/8/colors/accent1_1" csCatId="accent1" phldr="1"/>
      <dgm:spPr/>
      <dgm:t>
        <a:bodyPr/>
        <a:lstStyle/>
        <a:p>
          <a:endParaRPr lang="ru-RU"/>
        </a:p>
      </dgm:t>
    </dgm:pt>
    <dgm:pt modelId="{A1C00BFF-1352-478D-B509-CC0949435679}">
      <dgm:prSet phldrT="[Текст]" custT="1"/>
      <dgm:spPr>
        <a:xfrm>
          <a:off x="1085019" y="0"/>
          <a:ext cx="7006852" cy="719219"/>
        </a:xfrm>
        <a:prstGeom prst="rect">
          <a:avLst/>
        </a:prstGeom>
        <a:solidFill>
          <a:sysClr val="window" lastClr="FFFFFF">
            <a:hueOff val="0"/>
            <a:satOff val="0"/>
            <a:lumOff val="0"/>
            <a:alphaOff val="0"/>
          </a:sys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gm:spPr>
      <dgm:t>
        <a:bodyPr/>
        <a:lstStyle/>
        <a:p>
          <a:r>
            <a:rPr lang="ru-RU" sz="2600" b="1" dirty="0" smtClean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 panose="020F0502020204030204"/>
              <a:ea typeface="+mn-ea"/>
              <a:cs typeface="+mn-cs"/>
            </a:rPr>
            <a:t>Почему ушли от исследования к научному исследованию?</a:t>
          </a:r>
          <a:endParaRPr lang="ru-RU" sz="2600" b="1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Calibri" panose="020F0502020204030204"/>
            <a:ea typeface="+mn-ea"/>
            <a:cs typeface="+mn-cs"/>
          </a:endParaRPr>
        </a:p>
      </dgm:t>
    </dgm:pt>
    <dgm:pt modelId="{255255AB-D2DF-4AA5-BD84-1B51106DC143}" type="parTrans" cxnId="{0B17993E-EF5F-4ECA-A148-BF57E273D946}">
      <dgm:prSet/>
      <dgm:spPr/>
      <dgm:t>
        <a:bodyPr/>
        <a:lstStyle/>
        <a:p>
          <a:endParaRPr lang="ru-RU"/>
        </a:p>
      </dgm:t>
    </dgm:pt>
    <dgm:pt modelId="{A70E84E5-50F8-4B79-A5A2-4D5533196866}" type="sibTrans" cxnId="{0B17993E-EF5F-4ECA-A148-BF57E273D946}">
      <dgm:prSet/>
      <dgm:spPr/>
      <dgm:t>
        <a:bodyPr/>
        <a:lstStyle/>
        <a:p>
          <a:endParaRPr lang="ru-RU"/>
        </a:p>
      </dgm:t>
    </dgm:pt>
    <dgm:pt modelId="{6BFE3F00-C82F-4CBD-9FDE-434005F3E2DD}">
      <dgm:prSet phldrT="[Текст]" custT="1"/>
      <dgm:spPr>
        <a:xfrm>
          <a:off x="2907651" y="1301349"/>
          <a:ext cx="5340733" cy="987333"/>
        </a:xfrm>
        <a:prstGeom prst="rect">
          <a:avLst/>
        </a:prstGeom>
        <a:solidFill>
          <a:sysClr val="window" lastClr="FFFFFF">
            <a:hueOff val="0"/>
            <a:satOff val="0"/>
            <a:lumOff val="0"/>
            <a:alphaOff val="0"/>
          </a:sys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gm:spPr>
      <dgm:t>
        <a:bodyPr/>
        <a:lstStyle/>
        <a:p>
          <a:pPr algn="ctr"/>
          <a:r>
            <a:rPr lang="ru-RU" sz="2400" b="0" u="none" dirty="0" smtClean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 panose="020F0502020204030204"/>
              <a:ea typeface="+mn-ea"/>
              <a:cs typeface="+mn-cs"/>
            </a:rPr>
            <a:t>Исследователь может неправильно получить знания об объекте исследования</a:t>
          </a:r>
          <a:endParaRPr lang="ru-RU" sz="2400" b="0" u="none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Calibri" panose="020F0502020204030204"/>
            <a:ea typeface="+mn-ea"/>
            <a:cs typeface="+mn-cs"/>
          </a:endParaRPr>
        </a:p>
      </dgm:t>
    </dgm:pt>
    <dgm:pt modelId="{B2413B52-2E46-466F-856A-14E9AE21883F}" type="parTrans" cxnId="{A601685B-8F66-480A-9E55-28D85E64A6B5}">
      <dgm:prSet/>
      <dgm:spPr>
        <a:xfrm>
          <a:off x="1785704" y="719219"/>
          <a:ext cx="1121946" cy="107579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75797"/>
              </a:lnTo>
              <a:lnTo>
                <a:pt x="1121946" y="1075797"/>
              </a:lnTo>
            </a:path>
          </a:pathLst>
        </a:custGeom>
        <a:noFill/>
        <a:ln w="12700" cap="flat" cmpd="sng" algn="ctr">
          <a:solidFill>
            <a:srgbClr val="5B9BD5">
              <a:shade val="60000"/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gm:spPr>
      <dgm:t>
        <a:bodyPr/>
        <a:lstStyle/>
        <a:p>
          <a:endParaRPr lang="ru-RU"/>
        </a:p>
      </dgm:t>
    </dgm:pt>
    <dgm:pt modelId="{DDF68F27-F2FE-42F8-ADA9-1B0704B4FDCA}" type="sibTrans" cxnId="{A601685B-8F66-480A-9E55-28D85E64A6B5}">
      <dgm:prSet/>
      <dgm:spPr/>
      <dgm:t>
        <a:bodyPr/>
        <a:lstStyle/>
        <a:p>
          <a:endParaRPr lang="ru-RU"/>
        </a:p>
      </dgm:t>
    </dgm:pt>
    <dgm:pt modelId="{E60BF8C8-53AB-4BCA-9C3E-655BA0A1C27B}">
      <dgm:prSet phldrT="[Текст]" custT="1"/>
      <dgm:spPr>
        <a:xfrm>
          <a:off x="2907706" y="2867696"/>
          <a:ext cx="5310083" cy="987333"/>
        </a:xfrm>
        <a:prstGeom prst="rect">
          <a:avLst/>
        </a:prstGeom>
        <a:solidFill>
          <a:sysClr val="window" lastClr="FFFFFF">
            <a:hueOff val="0"/>
            <a:satOff val="0"/>
            <a:lumOff val="0"/>
            <a:alphaOff val="0"/>
          </a:sys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gm:spPr>
      <dgm:t>
        <a:bodyPr/>
        <a:lstStyle/>
        <a:p>
          <a:pPr algn="ctr"/>
          <a:r>
            <a:rPr lang="ru-RU" sz="2400" b="0" u="none" dirty="0" smtClean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 panose="020F0502020204030204"/>
              <a:ea typeface="+mn-ea"/>
              <a:cs typeface="+mn-cs"/>
            </a:rPr>
            <a:t>На вопрос «Как получают знания» человек отвечает исходя из своих соображений, своей модели мира</a:t>
          </a:r>
          <a:endParaRPr lang="ru-RU" sz="2400" b="0" u="none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Calibri" panose="020F0502020204030204"/>
            <a:ea typeface="+mn-ea"/>
            <a:cs typeface="+mn-cs"/>
          </a:endParaRPr>
        </a:p>
      </dgm:t>
    </dgm:pt>
    <dgm:pt modelId="{36DF34E3-99C8-4D2E-BF3E-FE3596FA3ACA}" type="parTrans" cxnId="{C12C2207-957B-4613-8704-9C1049691FB8}">
      <dgm:prSet/>
      <dgm:spPr>
        <a:xfrm>
          <a:off x="1785704" y="719219"/>
          <a:ext cx="1122001" cy="264214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642143"/>
              </a:lnTo>
              <a:lnTo>
                <a:pt x="1122001" y="2642143"/>
              </a:lnTo>
            </a:path>
          </a:pathLst>
        </a:custGeom>
        <a:noFill/>
        <a:ln w="12700" cap="flat" cmpd="sng" algn="ctr">
          <a:solidFill>
            <a:srgbClr val="5B9BD5">
              <a:shade val="60000"/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gm:spPr>
      <dgm:t>
        <a:bodyPr/>
        <a:lstStyle/>
        <a:p>
          <a:endParaRPr lang="ru-RU"/>
        </a:p>
      </dgm:t>
    </dgm:pt>
    <dgm:pt modelId="{517C7F2A-EB18-480A-8E55-F3EB297FB49F}" type="sibTrans" cxnId="{C12C2207-957B-4613-8704-9C1049691FB8}">
      <dgm:prSet/>
      <dgm:spPr/>
      <dgm:t>
        <a:bodyPr/>
        <a:lstStyle/>
        <a:p>
          <a:endParaRPr lang="ru-RU"/>
        </a:p>
      </dgm:t>
    </dgm:pt>
    <dgm:pt modelId="{799A41DE-D7BE-4B68-A0FB-21908F81D915}" type="pres">
      <dgm:prSet presAssocID="{8D2B79C5-AC2B-4363-8344-9AD7DD9A0839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  <dgm:t>
        <a:bodyPr/>
        <a:lstStyle/>
        <a:p>
          <a:endParaRPr lang="ru-RU"/>
        </a:p>
      </dgm:t>
    </dgm:pt>
    <dgm:pt modelId="{D36C28D5-0E2D-42A0-A894-BA5C4430B905}" type="pres">
      <dgm:prSet presAssocID="{A1C00BFF-1352-478D-B509-CC0949435679}" presName="hierRoot1" presStyleCnt="0">
        <dgm:presLayoutVars>
          <dgm:hierBranch val="r"/>
        </dgm:presLayoutVars>
      </dgm:prSet>
      <dgm:spPr/>
      <dgm:t>
        <a:bodyPr/>
        <a:lstStyle/>
        <a:p>
          <a:endParaRPr lang="ru-RU"/>
        </a:p>
      </dgm:t>
    </dgm:pt>
    <dgm:pt modelId="{10FCF1A7-49BA-4E3D-BECB-28ED8875EC5B}" type="pres">
      <dgm:prSet presAssocID="{A1C00BFF-1352-478D-B509-CC0949435679}" presName="rootComposite1" presStyleCnt="0"/>
      <dgm:spPr/>
      <dgm:t>
        <a:bodyPr/>
        <a:lstStyle/>
        <a:p>
          <a:endParaRPr lang="ru-RU"/>
        </a:p>
      </dgm:t>
    </dgm:pt>
    <dgm:pt modelId="{AE784486-8039-42B4-BC45-22E03339FFDB}" type="pres">
      <dgm:prSet presAssocID="{A1C00BFF-1352-478D-B509-CC0949435679}" presName="rootText1" presStyleLbl="node0" presStyleIdx="0" presStyleCnt="1" custScaleX="253524" custScaleY="52046" custLinFactNeighborX="-2566" custLinFactNeighborY="-8448">
        <dgm:presLayoutVars>
          <dgm:chPref val="3"/>
        </dgm:presLayoutVars>
      </dgm:prSet>
      <dgm:spPr/>
      <dgm:t>
        <a:bodyPr/>
        <a:lstStyle/>
        <a:p>
          <a:endParaRPr lang="ru-RU"/>
        </a:p>
      </dgm:t>
    </dgm:pt>
    <dgm:pt modelId="{AEEA8846-CE0C-42A2-A956-3C2328B7B99E}" type="pres">
      <dgm:prSet presAssocID="{A1C00BFF-1352-478D-B509-CC0949435679}" presName="rootConnector1" presStyleLbl="node1" presStyleIdx="0" presStyleCnt="0"/>
      <dgm:spPr/>
      <dgm:t>
        <a:bodyPr/>
        <a:lstStyle/>
        <a:p>
          <a:endParaRPr lang="ru-RU"/>
        </a:p>
      </dgm:t>
    </dgm:pt>
    <dgm:pt modelId="{1ABDDE0D-B519-45F5-89D1-682EB2FF2292}" type="pres">
      <dgm:prSet presAssocID="{A1C00BFF-1352-478D-B509-CC0949435679}" presName="hierChild2" presStyleCnt="0"/>
      <dgm:spPr/>
      <dgm:t>
        <a:bodyPr/>
        <a:lstStyle/>
        <a:p>
          <a:endParaRPr lang="ru-RU"/>
        </a:p>
      </dgm:t>
    </dgm:pt>
    <dgm:pt modelId="{CF45D3CC-3AEC-4789-BEF4-EB9D246FA273}" type="pres">
      <dgm:prSet presAssocID="{B2413B52-2E46-466F-856A-14E9AE21883F}" presName="Name50" presStyleLbl="parChTrans1D2" presStyleIdx="0" presStyleCnt="2"/>
      <dgm:spPr/>
      <dgm:t>
        <a:bodyPr/>
        <a:lstStyle/>
        <a:p>
          <a:endParaRPr lang="ru-RU"/>
        </a:p>
      </dgm:t>
    </dgm:pt>
    <dgm:pt modelId="{A882C86F-617D-4AD8-8A17-8FEF60BFBA15}" type="pres">
      <dgm:prSet presAssocID="{6BFE3F00-C82F-4CBD-9FDE-434005F3E2DD}" presName="hierRoot2" presStyleCnt="0">
        <dgm:presLayoutVars>
          <dgm:hierBranch val="init"/>
        </dgm:presLayoutVars>
      </dgm:prSet>
      <dgm:spPr/>
      <dgm:t>
        <a:bodyPr/>
        <a:lstStyle/>
        <a:p>
          <a:endParaRPr lang="ru-RU"/>
        </a:p>
      </dgm:t>
    </dgm:pt>
    <dgm:pt modelId="{DA7B72F0-C9C4-474F-BD58-14C2004D0B53}" type="pres">
      <dgm:prSet presAssocID="{6BFE3F00-C82F-4CBD-9FDE-434005F3E2DD}" presName="rootComposite" presStyleCnt="0"/>
      <dgm:spPr/>
      <dgm:t>
        <a:bodyPr/>
        <a:lstStyle/>
        <a:p>
          <a:endParaRPr lang="ru-RU"/>
        </a:p>
      </dgm:t>
    </dgm:pt>
    <dgm:pt modelId="{1B1944C1-3FF0-4D01-B526-32A4FF798027}" type="pres">
      <dgm:prSet presAssocID="{6BFE3F00-C82F-4CBD-9FDE-434005F3E2DD}" presName="rootText" presStyleLbl="node2" presStyleIdx="0" presStyleCnt="2" custScaleX="193240" custScaleY="71448">
        <dgm:presLayoutVars>
          <dgm:chPref val="3"/>
        </dgm:presLayoutVars>
      </dgm:prSet>
      <dgm:spPr/>
      <dgm:t>
        <a:bodyPr/>
        <a:lstStyle/>
        <a:p>
          <a:endParaRPr lang="ru-RU"/>
        </a:p>
      </dgm:t>
    </dgm:pt>
    <dgm:pt modelId="{6A61AE12-36E1-4910-9B18-2476D7DC799F}" type="pres">
      <dgm:prSet presAssocID="{6BFE3F00-C82F-4CBD-9FDE-434005F3E2DD}" presName="rootConnector" presStyleLbl="node2" presStyleIdx="0" presStyleCnt="2"/>
      <dgm:spPr/>
      <dgm:t>
        <a:bodyPr/>
        <a:lstStyle/>
        <a:p>
          <a:endParaRPr lang="ru-RU"/>
        </a:p>
      </dgm:t>
    </dgm:pt>
    <dgm:pt modelId="{F981B303-9CA7-4CF0-A705-D2AD71D6F2AA}" type="pres">
      <dgm:prSet presAssocID="{6BFE3F00-C82F-4CBD-9FDE-434005F3E2DD}" presName="hierChild4" presStyleCnt="0"/>
      <dgm:spPr/>
      <dgm:t>
        <a:bodyPr/>
        <a:lstStyle/>
        <a:p>
          <a:endParaRPr lang="ru-RU"/>
        </a:p>
      </dgm:t>
    </dgm:pt>
    <dgm:pt modelId="{4FC589EF-300B-4F86-B312-12D92A7DBE1B}" type="pres">
      <dgm:prSet presAssocID="{6BFE3F00-C82F-4CBD-9FDE-434005F3E2DD}" presName="hierChild5" presStyleCnt="0"/>
      <dgm:spPr/>
      <dgm:t>
        <a:bodyPr/>
        <a:lstStyle/>
        <a:p>
          <a:endParaRPr lang="ru-RU"/>
        </a:p>
      </dgm:t>
    </dgm:pt>
    <dgm:pt modelId="{AA685F8E-76DD-4023-B1BB-285FFE6ABEA1}" type="pres">
      <dgm:prSet presAssocID="{36DF34E3-99C8-4D2E-BF3E-FE3596FA3ACA}" presName="Name50" presStyleLbl="parChTrans1D2" presStyleIdx="1" presStyleCnt="2"/>
      <dgm:spPr/>
      <dgm:t>
        <a:bodyPr/>
        <a:lstStyle/>
        <a:p>
          <a:endParaRPr lang="ru-RU"/>
        </a:p>
      </dgm:t>
    </dgm:pt>
    <dgm:pt modelId="{F5A5B5A2-CB20-4F89-9EF6-30AB00309AE2}" type="pres">
      <dgm:prSet presAssocID="{E60BF8C8-53AB-4BCA-9C3E-655BA0A1C27B}" presName="hierRoot2" presStyleCnt="0">
        <dgm:presLayoutVars>
          <dgm:hierBranch val="init"/>
        </dgm:presLayoutVars>
      </dgm:prSet>
      <dgm:spPr/>
      <dgm:t>
        <a:bodyPr/>
        <a:lstStyle/>
        <a:p>
          <a:endParaRPr lang="ru-RU"/>
        </a:p>
      </dgm:t>
    </dgm:pt>
    <dgm:pt modelId="{307EA4E8-FEE7-4D35-A0A6-34984139D50C}" type="pres">
      <dgm:prSet presAssocID="{E60BF8C8-53AB-4BCA-9C3E-655BA0A1C27B}" presName="rootComposite" presStyleCnt="0"/>
      <dgm:spPr/>
      <dgm:t>
        <a:bodyPr/>
        <a:lstStyle/>
        <a:p>
          <a:endParaRPr lang="ru-RU"/>
        </a:p>
      </dgm:t>
    </dgm:pt>
    <dgm:pt modelId="{D09C9784-5368-4095-81CC-749359514A84}" type="pres">
      <dgm:prSet presAssocID="{E60BF8C8-53AB-4BCA-9C3E-655BA0A1C27B}" presName="rootText" presStyleLbl="node2" presStyleIdx="1" presStyleCnt="2" custScaleX="192131" custScaleY="71448" custLinFactNeighborX="2" custLinFactNeighborY="-100">
        <dgm:presLayoutVars>
          <dgm:chPref val="3"/>
        </dgm:presLayoutVars>
      </dgm:prSet>
      <dgm:spPr/>
      <dgm:t>
        <a:bodyPr/>
        <a:lstStyle/>
        <a:p>
          <a:endParaRPr lang="ru-RU"/>
        </a:p>
      </dgm:t>
    </dgm:pt>
    <dgm:pt modelId="{3429382A-AA9A-4E38-A025-902A1A7FD167}" type="pres">
      <dgm:prSet presAssocID="{E60BF8C8-53AB-4BCA-9C3E-655BA0A1C27B}" presName="rootConnector" presStyleLbl="node2" presStyleIdx="1" presStyleCnt="2"/>
      <dgm:spPr/>
      <dgm:t>
        <a:bodyPr/>
        <a:lstStyle/>
        <a:p>
          <a:endParaRPr lang="ru-RU"/>
        </a:p>
      </dgm:t>
    </dgm:pt>
    <dgm:pt modelId="{D1D7E6BD-FBCD-45DD-B780-12F98579E07B}" type="pres">
      <dgm:prSet presAssocID="{E60BF8C8-53AB-4BCA-9C3E-655BA0A1C27B}" presName="hierChild4" presStyleCnt="0"/>
      <dgm:spPr/>
      <dgm:t>
        <a:bodyPr/>
        <a:lstStyle/>
        <a:p>
          <a:endParaRPr lang="ru-RU"/>
        </a:p>
      </dgm:t>
    </dgm:pt>
    <dgm:pt modelId="{EF2696E2-6EDA-4066-83A1-1C8981A8F26C}" type="pres">
      <dgm:prSet presAssocID="{E60BF8C8-53AB-4BCA-9C3E-655BA0A1C27B}" presName="hierChild5" presStyleCnt="0"/>
      <dgm:spPr/>
      <dgm:t>
        <a:bodyPr/>
        <a:lstStyle/>
        <a:p>
          <a:endParaRPr lang="ru-RU"/>
        </a:p>
      </dgm:t>
    </dgm:pt>
    <dgm:pt modelId="{F2E7787B-6BE1-4690-9223-10CD94F1D601}" type="pres">
      <dgm:prSet presAssocID="{A1C00BFF-1352-478D-B509-CC0949435679}" presName="hierChild3" presStyleCnt="0"/>
      <dgm:spPr/>
      <dgm:t>
        <a:bodyPr/>
        <a:lstStyle/>
        <a:p>
          <a:endParaRPr lang="ru-RU"/>
        </a:p>
      </dgm:t>
    </dgm:pt>
  </dgm:ptLst>
  <dgm:cxnLst>
    <dgm:cxn modelId="{BE17DB67-7D73-4588-ACF9-37E563CB3AFD}" type="presOf" srcId="{E60BF8C8-53AB-4BCA-9C3E-655BA0A1C27B}" destId="{3429382A-AA9A-4E38-A025-902A1A7FD167}" srcOrd="1" destOrd="0" presId="urn:microsoft.com/office/officeart/2005/8/layout/orgChart1"/>
    <dgm:cxn modelId="{060CA4CC-A0DF-44F8-99BD-5EC39CE48CC1}" type="presOf" srcId="{A1C00BFF-1352-478D-B509-CC0949435679}" destId="{AEEA8846-CE0C-42A2-A956-3C2328B7B99E}" srcOrd="1" destOrd="0" presId="urn:microsoft.com/office/officeart/2005/8/layout/orgChart1"/>
    <dgm:cxn modelId="{D96BE566-A56F-40E1-BBAA-6F2D41D12219}" type="presOf" srcId="{36DF34E3-99C8-4D2E-BF3E-FE3596FA3ACA}" destId="{AA685F8E-76DD-4023-B1BB-285FFE6ABEA1}" srcOrd="0" destOrd="0" presId="urn:microsoft.com/office/officeart/2005/8/layout/orgChart1"/>
    <dgm:cxn modelId="{0B17993E-EF5F-4ECA-A148-BF57E273D946}" srcId="{8D2B79C5-AC2B-4363-8344-9AD7DD9A0839}" destId="{A1C00BFF-1352-478D-B509-CC0949435679}" srcOrd="0" destOrd="0" parTransId="{255255AB-D2DF-4AA5-BD84-1B51106DC143}" sibTransId="{A70E84E5-50F8-4B79-A5A2-4D5533196866}"/>
    <dgm:cxn modelId="{A601685B-8F66-480A-9E55-28D85E64A6B5}" srcId="{A1C00BFF-1352-478D-B509-CC0949435679}" destId="{6BFE3F00-C82F-4CBD-9FDE-434005F3E2DD}" srcOrd="0" destOrd="0" parTransId="{B2413B52-2E46-466F-856A-14E9AE21883F}" sibTransId="{DDF68F27-F2FE-42F8-ADA9-1B0704B4FDCA}"/>
    <dgm:cxn modelId="{2A6F7CD0-1D60-477D-A43E-32D24BA9AE60}" type="presOf" srcId="{A1C00BFF-1352-478D-B509-CC0949435679}" destId="{AE784486-8039-42B4-BC45-22E03339FFDB}" srcOrd="0" destOrd="0" presId="urn:microsoft.com/office/officeart/2005/8/layout/orgChart1"/>
    <dgm:cxn modelId="{EABEBBDE-9FAA-4A4C-8F0B-44F61EE463BF}" type="presOf" srcId="{B2413B52-2E46-466F-856A-14E9AE21883F}" destId="{CF45D3CC-3AEC-4789-BEF4-EB9D246FA273}" srcOrd="0" destOrd="0" presId="urn:microsoft.com/office/officeart/2005/8/layout/orgChart1"/>
    <dgm:cxn modelId="{EECCE51B-773E-4C98-BD73-2254F2986D92}" type="presOf" srcId="{8D2B79C5-AC2B-4363-8344-9AD7DD9A0839}" destId="{799A41DE-D7BE-4B68-A0FB-21908F81D915}" srcOrd="0" destOrd="0" presId="urn:microsoft.com/office/officeart/2005/8/layout/orgChart1"/>
    <dgm:cxn modelId="{166B8787-05E6-4D06-B53B-C588F2DEDF16}" type="presOf" srcId="{6BFE3F00-C82F-4CBD-9FDE-434005F3E2DD}" destId="{1B1944C1-3FF0-4D01-B526-32A4FF798027}" srcOrd="0" destOrd="0" presId="urn:microsoft.com/office/officeart/2005/8/layout/orgChart1"/>
    <dgm:cxn modelId="{C12C2207-957B-4613-8704-9C1049691FB8}" srcId="{A1C00BFF-1352-478D-B509-CC0949435679}" destId="{E60BF8C8-53AB-4BCA-9C3E-655BA0A1C27B}" srcOrd="1" destOrd="0" parTransId="{36DF34E3-99C8-4D2E-BF3E-FE3596FA3ACA}" sibTransId="{517C7F2A-EB18-480A-8E55-F3EB297FB49F}"/>
    <dgm:cxn modelId="{359348BD-B915-4848-9D8F-4A294E5AF2FC}" type="presOf" srcId="{6BFE3F00-C82F-4CBD-9FDE-434005F3E2DD}" destId="{6A61AE12-36E1-4910-9B18-2476D7DC799F}" srcOrd="1" destOrd="0" presId="urn:microsoft.com/office/officeart/2005/8/layout/orgChart1"/>
    <dgm:cxn modelId="{109FB69C-E238-4EB9-A20D-828358081717}" type="presOf" srcId="{E60BF8C8-53AB-4BCA-9C3E-655BA0A1C27B}" destId="{D09C9784-5368-4095-81CC-749359514A84}" srcOrd="0" destOrd="0" presId="urn:microsoft.com/office/officeart/2005/8/layout/orgChart1"/>
    <dgm:cxn modelId="{E3E66B2E-0537-4DFF-82A0-E5601AA7BF8C}" type="presParOf" srcId="{799A41DE-D7BE-4B68-A0FB-21908F81D915}" destId="{D36C28D5-0E2D-42A0-A894-BA5C4430B905}" srcOrd="0" destOrd="0" presId="urn:microsoft.com/office/officeart/2005/8/layout/orgChart1"/>
    <dgm:cxn modelId="{A441E0E0-941C-43B4-98C6-4F93ABEB2EF3}" type="presParOf" srcId="{D36C28D5-0E2D-42A0-A894-BA5C4430B905}" destId="{10FCF1A7-49BA-4E3D-BECB-28ED8875EC5B}" srcOrd="0" destOrd="0" presId="urn:microsoft.com/office/officeart/2005/8/layout/orgChart1"/>
    <dgm:cxn modelId="{D586DB5E-6301-4091-B00B-F6F27B26A592}" type="presParOf" srcId="{10FCF1A7-49BA-4E3D-BECB-28ED8875EC5B}" destId="{AE784486-8039-42B4-BC45-22E03339FFDB}" srcOrd="0" destOrd="0" presId="urn:microsoft.com/office/officeart/2005/8/layout/orgChart1"/>
    <dgm:cxn modelId="{2E52FCC6-8DCF-4FDB-B883-66331CB4B697}" type="presParOf" srcId="{10FCF1A7-49BA-4E3D-BECB-28ED8875EC5B}" destId="{AEEA8846-CE0C-42A2-A956-3C2328B7B99E}" srcOrd="1" destOrd="0" presId="urn:microsoft.com/office/officeart/2005/8/layout/orgChart1"/>
    <dgm:cxn modelId="{5313885E-A759-4EAF-A144-B2C9E8C2DB24}" type="presParOf" srcId="{D36C28D5-0E2D-42A0-A894-BA5C4430B905}" destId="{1ABDDE0D-B519-45F5-89D1-682EB2FF2292}" srcOrd="1" destOrd="0" presId="urn:microsoft.com/office/officeart/2005/8/layout/orgChart1"/>
    <dgm:cxn modelId="{C5707D8E-3290-41EC-AA7C-81257F304B39}" type="presParOf" srcId="{1ABDDE0D-B519-45F5-89D1-682EB2FF2292}" destId="{CF45D3CC-3AEC-4789-BEF4-EB9D246FA273}" srcOrd="0" destOrd="0" presId="urn:microsoft.com/office/officeart/2005/8/layout/orgChart1"/>
    <dgm:cxn modelId="{80A01592-A0A6-4813-B3B6-C530D27F10FC}" type="presParOf" srcId="{1ABDDE0D-B519-45F5-89D1-682EB2FF2292}" destId="{A882C86F-617D-4AD8-8A17-8FEF60BFBA15}" srcOrd="1" destOrd="0" presId="urn:microsoft.com/office/officeart/2005/8/layout/orgChart1"/>
    <dgm:cxn modelId="{86612524-131F-421D-900E-5CB4214CBD7D}" type="presParOf" srcId="{A882C86F-617D-4AD8-8A17-8FEF60BFBA15}" destId="{DA7B72F0-C9C4-474F-BD58-14C2004D0B53}" srcOrd="0" destOrd="0" presId="urn:microsoft.com/office/officeart/2005/8/layout/orgChart1"/>
    <dgm:cxn modelId="{B417A079-2D32-4E44-A43C-262A50CB4E49}" type="presParOf" srcId="{DA7B72F0-C9C4-474F-BD58-14C2004D0B53}" destId="{1B1944C1-3FF0-4D01-B526-32A4FF798027}" srcOrd="0" destOrd="0" presId="urn:microsoft.com/office/officeart/2005/8/layout/orgChart1"/>
    <dgm:cxn modelId="{A4732D00-5D99-438E-BAEC-D9A52518C20F}" type="presParOf" srcId="{DA7B72F0-C9C4-474F-BD58-14C2004D0B53}" destId="{6A61AE12-36E1-4910-9B18-2476D7DC799F}" srcOrd="1" destOrd="0" presId="urn:microsoft.com/office/officeart/2005/8/layout/orgChart1"/>
    <dgm:cxn modelId="{D22597A5-172A-4BE6-8AC7-E9F1702EDBB8}" type="presParOf" srcId="{A882C86F-617D-4AD8-8A17-8FEF60BFBA15}" destId="{F981B303-9CA7-4CF0-A705-D2AD71D6F2AA}" srcOrd="1" destOrd="0" presId="urn:microsoft.com/office/officeart/2005/8/layout/orgChart1"/>
    <dgm:cxn modelId="{7EE0CE00-F437-45BA-AC5E-DFF240DC042B}" type="presParOf" srcId="{A882C86F-617D-4AD8-8A17-8FEF60BFBA15}" destId="{4FC589EF-300B-4F86-B312-12D92A7DBE1B}" srcOrd="2" destOrd="0" presId="urn:microsoft.com/office/officeart/2005/8/layout/orgChart1"/>
    <dgm:cxn modelId="{968DB26C-C5AA-492D-8BD1-39561166063F}" type="presParOf" srcId="{1ABDDE0D-B519-45F5-89D1-682EB2FF2292}" destId="{AA685F8E-76DD-4023-B1BB-285FFE6ABEA1}" srcOrd="2" destOrd="0" presId="urn:microsoft.com/office/officeart/2005/8/layout/orgChart1"/>
    <dgm:cxn modelId="{14AA8ACD-2318-401D-829E-722223B56336}" type="presParOf" srcId="{1ABDDE0D-B519-45F5-89D1-682EB2FF2292}" destId="{F5A5B5A2-CB20-4F89-9EF6-30AB00309AE2}" srcOrd="3" destOrd="0" presId="urn:microsoft.com/office/officeart/2005/8/layout/orgChart1"/>
    <dgm:cxn modelId="{B51BD476-79FF-4A44-AA49-A73B12806E4D}" type="presParOf" srcId="{F5A5B5A2-CB20-4F89-9EF6-30AB00309AE2}" destId="{307EA4E8-FEE7-4D35-A0A6-34984139D50C}" srcOrd="0" destOrd="0" presId="urn:microsoft.com/office/officeart/2005/8/layout/orgChart1"/>
    <dgm:cxn modelId="{942B4066-5062-4804-9A4D-97135DB84470}" type="presParOf" srcId="{307EA4E8-FEE7-4D35-A0A6-34984139D50C}" destId="{D09C9784-5368-4095-81CC-749359514A84}" srcOrd="0" destOrd="0" presId="urn:microsoft.com/office/officeart/2005/8/layout/orgChart1"/>
    <dgm:cxn modelId="{74E8BAEA-F336-4459-BF02-235FAD61616B}" type="presParOf" srcId="{307EA4E8-FEE7-4D35-A0A6-34984139D50C}" destId="{3429382A-AA9A-4E38-A025-902A1A7FD167}" srcOrd="1" destOrd="0" presId="urn:microsoft.com/office/officeart/2005/8/layout/orgChart1"/>
    <dgm:cxn modelId="{E3229B0A-2321-4819-A8B7-6E9BEECF9EF9}" type="presParOf" srcId="{F5A5B5A2-CB20-4F89-9EF6-30AB00309AE2}" destId="{D1D7E6BD-FBCD-45DD-B780-12F98579E07B}" srcOrd="1" destOrd="0" presId="urn:microsoft.com/office/officeart/2005/8/layout/orgChart1"/>
    <dgm:cxn modelId="{D1F6BA36-E98C-4A4F-B611-4351B9E5F5AF}" type="presParOf" srcId="{F5A5B5A2-CB20-4F89-9EF6-30AB00309AE2}" destId="{EF2696E2-6EDA-4066-83A1-1C8981A8F26C}" srcOrd="2" destOrd="0" presId="urn:microsoft.com/office/officeart/2005/8/layout/orgChart1"/>
    <dgm:cxn modelId="{41FE72F9-295E-49CE-982B-3C1EA89A48EB}" type="presParOf" srcId="{D36C28D5-0E2D-42A0-A894-BA5C4430B905}" destId="{F2E7787B-6BE1-4690-9223-10CD94F1D601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A685F8E-76DD-4023-B1BB-285FFE6ABEA1}">
      <dsp:nvSpPr>
        <dsp:cNvPr id="0" name=""/>
        <dsp:cNvSpPr/>
      </dsp:nvSpPr>
      <dsp:spPr>
        <a:xfrm>
          <a:off x="1785704" y="719219"/>
          <a:ext cx="1122001" cy="264214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642143"/>
              </a:lnTo>
              <a:lnTo>
                <a:pt x="1122001" y="2642143"/>
              </a:lnTo>
            </a:path>
          </a:pathLst>
        </a:custGeom>
        <a:noFill/>
        <a:ln w="12700" cap="flat" cmpd="sng" algn="ctr">
          <a:solidFill>
            <a:srgbClr val="5B9BD5">
              <a:shade val="60000"/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F45D3CC-3AEC-4789-BEF4-EB9D246FA273}">
      <dsp:nvSpPr>
        <dsp:cNvPr id="0" name=""/>
        <dsp:cNvSpPr/>
      </dsp:nvSpPr>
      <dsp:spPr>
        <a:xfrm>
          <a:off x="1785704" y="719219"/>
          <a:ext cx="1121946" cy="107579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75797"/>
              </a:lnTo>
              <a:lnTo>
                <a:pt x="1121946" y="1075797"/>
              </a:lnTo>
            </a:path>
          </a:pathLst>
        </a:custGeom>
        <a:noFill/>
        <a:ln w="12700" cap="flat" cmpd="sng" algn="ctr">
          <a:solidFill>
            <a:srgbClr val="5B9BD5">
              <a:shade val="60000"/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E784486-8039-42B4-BC45-22E03339FFDB}">
      <dsp:nvSpPr>
        <dsp:cNvPr id="0" name=""/>
        <dsp:cNvSpPr/>
      </dsp:nvSpPr>
      <dsp:spPr>
        <a:xfrm>
          <a:off x="1085019" y="0"/>
          <a:ext cx="7006852" cy="719219"/>
        </a:xfrm>
        <a:prstGeom prst="rect">
          <a:avLst/>
        </a:prstGeom>
        <a:solidFill>
          <a:sysClr val="window" lastClr="FFFFFF">
            <a:hueOff val="0"/>
            <a:satOff val="0"/>
            <a:lumOff val="0"/>
            <a:alphaOff val="0"/>
          </a:sys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lvl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600" b="1" kern="1200" dirty="0" smtClean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 panose="020F0502020204030204"/>
              <a:ea typeface="+mn-ea"/>
              <a:cs typeface="+mn-cs"/>
            </a:rPr>
            <a:t>Почему ушли от исследования к научному исследованию?</a:t>
          </a:r>
          <a:endParaRPr lang="ru-RU" sz="2600" b="1" kern="1200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Calibri" panose="020F0502020204030204"/>
            <a:ea typeface="+mn-ea"/>
            <a:cs typeface="+mn-cs"/>
          </a:endParaRPr>
        </a:p>
      </dsp:txBody>
      <dsp:txXfrm>
        <a:off x="1085019" y="0"/>
        <a:ext cx="7006852" cy="719219"/>
      </dsp:txXfrm>
    </dsp:sp>
    <dsp:sp modelId="{1B1944C1-3FF0-4D01-B526-32A4FF798027}">
      <dsp:nvSpPr>
        <dsp:cNvPr id="0" name=""/>
        <dsp:cNvSpPr/>
      </dsp:nvSpPr>
      <dsp:spPr>
        <a:xfrm>
          <a:off x="2907651" y="1301349"/>
          <a:ext cx="5340733" cy="987333"/>
        </a:xfrm>
        <a:prstGeom prst="rect">
          <a:avLst/>
        </a:prstGeom>
        <a:solidFill>
          <a:sysClr val="window" lastClr="FFFFFF">
            <a:hueOff val="0"/>
            <a:satOff val="0"/>
            <a:lumOff val="0"/>
            <a:alphaOff val="0"/>
          </a:sys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b="0" u="none" kern="1200" dirty="0" smtClean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 panose="020F0502020204030204"/>
              <a:ea typeface="+mn-ea"/>
              <a:cs typeface="+mn-cs"/>
            </a:rPr>
            <a:t>Исследователь может неправильно получить знания об объекте исследования</a:t>
          </a:r>
          <a:endParaRPr lang="ru-RU" sz="2400" b="0" u="none" kern="1200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Calibri" panose="020F0502020204030204"/>
            <a:ea typeface="+mn-ea"/>
            <a:cs typeface="+mn-cs"/>
          </a:endParaRPr>
        </a:p>
      </dsp:txBody>
      <dsp:txXfrm>
        <a:off x="2907651" y="1301349"/>
        <a:ext cx="5340733" cy="987333"/>
      </dsp:txXfrm>
    </dsp:sp>
    <dsp:sp modelId="{D09C9784-5368-4095-81CC-749359514A84}">
      <dsp:nvSpPr>
        <dsp:cNvPr id="0" name=""/>
        <dsp:cNvSpPr/>
      </dsp:nvSpPr>
      <dsp:spPr>
        <a:xfrm>
          <a:off x="2907706" y="2867696"/>
          <a:ext cx="5310083" cy="987333"/>
        </a:xfrm>
        <a:prstGeom prst="rect">
          <a:avLst/>
        </a:prstGeom>
        <a:solidFill>
          <a:sysClr val="window" lastClr="FFFFFF">
            <a:hueOff val="0"/>
            <a:satOff val="0"/>
            <a:lumOff val="0"/>
            <a:alphaOff val="0"/>
          </a:sys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b="0" u="none" kern="1200" dirty="0" smtClean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" panose="020F0502020204030204"/>
              <a:ea typeface="+mn-ea"/>
              <a:cs typeface="+mn-cs"/>
            </a:rPr>
            <a:t>На вопрос «Как получают знания» человек отвечает исходя из своих соображений, своей модели мира</a:t>
          </a:r>
          <a:endParaRPr lang="ru-RU" sz="2400" b="0" u="none" kern="1200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Calibri" panose="020F0502020204030204"/>
            <a:ea typeface="+mn-ea"/>
            <a:cs typeface="+mn-cs"/>
          </a:endParaRPr>
        </a:p>
      </dsp:txBody>
      <dsp:txXfrm>
        <a:off x="2907706" y="2867696"/>
        <a:ext cx="5310083" cy="98733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80223A-92FE-4A5B-BB5B-749048751019}" type="datetimeFigureOut">
              <a:rPr lang="ru-RU" smtClean="0"/>
              <a:t>20.11.2025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44500" y="1243013"/>
            <a:ext cx="5969000" cy="33575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786313"/>
            <a:ext cx="5486400" cy="39163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24CF9C-B53B-43BA-BDF3-7B39381E285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1990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587053-135D-F215-A218-BC56DE1AFB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2112CF9-225C-E806-B2C3-EC8E402A45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5911F65-5AA7-B613-595A-65D7B81345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3580BC-6B02-4DCF-B19F-0EB9C768A3FE}" type="datetime1">
              <a:rPr lang="ru-RU" smtClean="0"/>
              <a:t>20.11.2025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554AE9E-5F35-6CE1-D845-3E432C8F34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D76449B-825F-1405-E856-546B59A55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506412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581233-ECF7-3382-624D-0F9DAD5E1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3C6DBA4-226F-AA80-AE06-318BD29649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3383140-76ED-B10E-36A2-E28D159A8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262AB-E04E-4F06-9A10-68B74A6F831C}" type="datetime1">
              <a:rPr lang="ru-RU" smtClean="0"/>
              <a:t>20.11.2025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D74A889-D131-461A-EFE8-ECF06C3DE0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6B6CAB0-9E40-C3BB-8ED0-3C8E32B48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09796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B3DB53C-9A16-EC5C-97DE-160D67DA9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49BE06C-CFA5-BD59-6E8A-61FDA1ABA4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7931702-3F41-3280-3D15-F8D098EF9C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0DE69-666D-4487-BC90-69FDB1137A48}" type="datetime1">
              <a:rPr lang="ru-RU" smtClean="0"/>
              <a:t>20.11.2025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58128B9-5002-6092-E950-F4219C794C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3FF320A-4EC4-EEBA-AFFD-AA0276636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81758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AA0FC8-A718-0858-B92C-A6A81ACE8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F530346-A8BD-FE56-A9C0-049676EE84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792DF74-4175-5B60-52EF-F15550B27A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205E956-AEF6-C177-D328-26A079F6C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7F689-C7D3-4FBE-8D92-FCDD4B001B08}" type="datetime1">
              <a:rPr lang="ru-RU" smtClean="0"/>
              <a:t>20.11.2025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737E946-D99D-A214-82A4-6AE768FBE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6FF1653-0CBB-9396-098B-59CF75580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974608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8A38FA-257E-83DD-2DD4-4F4FFB7CB6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CFC1D4E-B6ED-7544-1C8C-ED866728F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8802504-73C2-F4F0-1D0A-62936E6D3D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DC114A7-0BC4-79AD-7407-0ABE828817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BCB2399-4F24-2D46-7C3E-AC4244F176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8265E26-E566-8160-CFBE-4A598E9E44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D557-C1B2-4FD9-BB0B-65B6B327D49D}" type="datetime1">
              <a:rPr lang="ru-RU" smtClean="0"/>
              <a:t>20.11.2025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941FD1B-F497-D699-6D0F-599868B31C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56F80733-632F-3F03-92BD-FD2168647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72679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67D5160-DAD1-E500-3C46-CF6AA56EA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6A67C913-2345-BC6F-DEFF-322B65335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144E9-D005-4784-9BEA-CC60C2CCEA11}" type="datetime1">
              <a:rPr lang="ru-RU" smtClean="0"/>
              <a:t>20.11.2025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3D801959-C8DA-1AAA-340E-D634BE948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4BD395B-C210-9DAB-3729-B4A6BFA3D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101539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CCA63F2D-2EAF-8959-D0BD-994060DB44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EF033-C872-494D-8C8D-1135967C3271}" type="datetime1">
              <a:rPr lang="ru-RU" smtClean="0"/>
              <a:t>20.11.2025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FF7236C8-B739-B86F-FB5A-4866DC926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E129AE5-774F-8866-73D1-5F42EDCDE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390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64B79AD-C351-4E82-E558-B2805BAA5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0139945-9A03-83A2-0810-A9705AF682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1F595BA-D41B-8A7F-9C59-1F19C0F9B2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D32464F-1464-6F8A-5AC3-AFDDE0A4F5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EC839-69BC-43B6-9B38-60AA6CCA39C5}" type="datetime1">
              <a:rPr lang="ru-RU" smtClean="0"/>
              <a:t>20.11.2025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359FAF0-8ACC-0C70-6C84-29ED12FE0F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3C45997-DA3B-F7A0-2884-565BF7D7C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28304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DD7D2C5-AECF-CF77-2180-DBE40DE37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B9B637F-47A5-70A1-51C1-DBE2595143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504CA38-6251-1406-5C3B-A9A3B7B2F8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D5C0DFC-27DA-A059-8F10-7B07BE83C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3203D-F460-4EED-95FB-15ABDABE335A}" type="datetime1">
              <a:rPr lang="ru-RU" smtClean="0"/>
              <a:t>20.11.2025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EFA81DA-8793-5429-7EC6-1AB101554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D85EA46-84DC-A25C-886A-6626FDF86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9656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2F426FD-1C37-BE48-71FC-FFD627EEE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BC88C5B-642C-44C7-4E6A-91FF805EF4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9B06FBE-4C49-E118-0FC1-F8769BA82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0571D-D699-4ACD-A1A7-5EC42B21ACC4}" type="datetime1">
              <a:rPr lang="ru-RU" smtClean="0"/>
              <a:t>20.11.2025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254C08B-5CAC-02E5-96B2-1FDB1F75E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2B4240F-04AB-0127-874C-049B3A35F2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44394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C5091E57-3F43-84A0-4C11-B438870DB1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2290140-B927-1FA0-28A5-C23A27B9E3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E6E7FFC-07D3-DEFF-0178-552DA2C05F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977B4C-FD90-4D07-A416-F62E908158A9}" type="datetime1">
              <a:rPr lang="ru-RU" smtClean="0"/>
              <a:t>20.11.2025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155423E-2D5A-9B76-1404-83F7E7CA3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E3CFFBE-58EB-FEB0-E795-D2E31D7F2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11603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D7B801-66B8-DC93-5823-CE1645BDCD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957D597-F9B7-BCE8-9096-C7F8E87269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4F2D330-E09A-C187-7279-4D0A9025C6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1AF16D-7B67-40C7-A698-CD17E9078998}" type="datetime1">
              <a:rPr lang="ru-RU" smtClean="0"/>
              <a:t>20.11.2025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27E0AA0-0F93-87FA-6854-2868065EDE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895E1DC-4311-5D67-D729-4E1700CF47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F08AD6-07C1-4267-9B3C-85DF7FE192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01942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1"/>
          <p:cNvSpPr txBox="1">
            <a:spLocks/>
          </p:cNvSpPr>
          <p:nvPr/>
        </p:nvSpPr>
        <p:spPr>
          <a:xfrm>
            <a:off x="1652478" y="1786644"/>
            <a:ext cx="8562512" cy="174533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 lnSpcReduction="10000"/>
          </a:bodyPr>
          <a:lstStyle>
            <a:lvl1pPr algn="ctr" defTabSz="100794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14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1007943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6614" b="0" i="0" u="none" strike="noStrike" kern="120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Основы системного анализа</a:t>
            </a:r>
            <a:endParaRPr kumimoji="0" lang="ru-RU" sz="2105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  <p:sp>
        <p:nvSpPr>
          <p:cNvPr id="9" name="Подзаголовок 2"/>
          <p:cNvSpPr txBox="1">
            <a:spLocks/>
          </p:cNvSpPr>
          <p:nvPr/>
        </p:nvSpPr>
        <p:spPr>
          <a:xfrm>
            <a:off x="5458932" y="4588761"/>
            <a:ext cx="5209993" cy="836200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0" indent="0" algn="ctr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3972" indent="0" algn="ctr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07943" indent="0" algn="ctr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11915" indent="0" algn="ctr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sz="176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15886" indent="0" algn="ctr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sz="176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9858" indent="0" algn="ctr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sz="176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23829" indent="0" algn="ctr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sz="176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527801" indent="0" algn="ctr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sz="176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031772" indent="0" algn="ctr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None/>
              <a:defRPr sz="176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1007943" rtl="0" eaLnBrk="1" fontAlgn="auto" latinLnBrk="0" hangingPunct="1">
              <a:lnSpc>
                <a:spcPct val="90000"/>
              </a:lnSpc>
              <a:spcBef>
                <a:spcPts val="1102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646" b="0" i="0" u="none" strike="noStrike" kern="1200" cap="none" spc="0" normalizeH="0" baseline="0" noProof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Студент: </a:t>
            </a:r>
            <a:r>
              <a:rPr kumimoji="0" lang="ru-RU" sz="2646" b="0" i="0" u="none" strike="noStrike" kern="1200" cap="none" spc="0" normalizeH="0" baseline="0" noProof="0" dirty="0" err="1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Василения</a:t>
            </a:r>
            <a:r>
              <a:rPr kumimoji="0" lang="ru-RU" sz="2646" b="0" i="0" u="none" strike="noStrike" kern="1200" cap="none" spc="0" normalizeH="0" baseline="0" noProof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Иван Валерьевич</a:t>
            </a:r>
          </a:p>
          <a:p>
            <a:pPr marL="0" marR="0" lvl="0" indent="0" algn="r" defTabSz="1007943" rtl="0" eaLnBrk="1" fontAlgn="auto" latinLnBrk="0" hangingPunct="1">
              <a:lnSpc>
                <a:spcPct val="90000"/>
              </a:lnSpc>
              <a:spcBef>
                <a:spcPts val="1102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646" b="0" i="0" u="none" strike="noStrike" kern="1200" cap="none" spc="0" normalizeH="0" baseline="0" noProof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Преподаватель: Раков Владимир Иванович</a:t>
            </a:r>
            <a:endParaRPr kumimoji="0" lang="ru-RU" sz="2646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Подзаголовок 2"/>
          <p:cNvSpPr txBox="1">
            <a:spLocks/>
          </p:cNvSpPr>
          <p:nvPr/>
        </p:nvSpPr>
        <p:spPr>
          <a:xfrm>
            <a:off x="4637464" y="6243492"/>
            <a:ext cx="2592540" cy="476497"/>
          </a:xfrm>
          <a:prstGeom prst="rect">
            <a:avLst/>
          </a:prstGeom>
        </p:spPr>
        <p:txBody>
          <a:bodyPr vert="horz" lIns="80189" tIns="40094" rIns="80189" bIns="40094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754" dirty="0" smtClean="0">
                <a:solidFill>
                  <a:prstClr val="black"/>
                </a:solidFill>
                <a:latin typeface="Calibri" panose="020F0502020204030204"/>
              </a:rPr>
              <a:t>Орёл, 2025г</a:t>
            </a:r>
            <a:r>
              <a:rPr lang="ru-RU" sz="1754" dirty="0">
                <a:solidFill>
                  <a:prstClr val="black"/>
                </a:solidFill>
                <a:latin typeface="Calibri" panose="020F0502020204030204"/>
              </a:rPr>
              <a:t>.</a:t>
            </a:r>
            <a:endParaRPr lang="ru-RU" sz="140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1652478" y="3525675"/>
            <a:ext cx="8562512" cy="394100"/>
          </a:xfrm>
          <a:prstGeom prst="rect">
            <a:avLst/>
          </a:prstGeom>
        </p:spPr>
        <p:txBody>
          <a:bodyPr vert="horz" lIns="80189" tIns="40094" rIns="80189" bIns="40094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105" dirty="0">
                <a:solidFill>
                  <a:prstClr val="black"/>
                </a:solidFill>
                <a:latin typeface="Calibri Light" panose="020F0302020204030204"/>
              </a:rPr>
              <a:t>Лабораторная работа №1</a:t>
            </a:r>
          </a:p>
        </p:txBody>
      </p:sp>
      <p:sp>
        <p:nvSpPr>
          <p:cNvPr id="12" name="Подзаголовок 2"/>
          <p:cNvSpPr txBox="1">
            <a:spLocks/>
          </p:cNvSpPr>
          <p:nvPr/>
        </p:nvSpPr>
        <p:spPr>
          <a:xfrm>
            <a:off x="1652479" y="243196"/>
            <a:ext cx="8562511" cy="932159"/>
          </a:xfrm>
          <a:prstGeom prst="rect">
            <a:avLst/>
          </a:prstGeom>
        </p:spPr>
        <p:txBody>
          <a:bodyPr vert="horz" lIns="80189" tIns="40094" rIns="80189" bIns="40094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800" dirty="0">
                <a:solidFill>
                  <a:prstClr val="black"/>
                </a:solidFill>
                <a:latin typeface="Calibri" panose="020F0502020204030204"/>
              </a:rPr>
              <a:t>Орловский государственный </a:t>
            </a:r>
            <a:r>
              <a:rPr lang="ru-RU" sz="2800" dirty="0" smtClean="0">
                <a:solidFill>
                  <a:prstClr val="black"/>
                </a:solidFill>
                <a:latin typeface="Calibri" panose="020F0502020204030204"/>
              </a:rPr>
              <a:t>университет</a:t>
            </a:r>
          </a:p>
          <a:p>
            <a:r>
              <a:rPr lang="ru-RU" sz="2800" dirty="0" smtClean="0">
                <a:solidFill>
                  <a:prstClr val="black"/>
                </a:solidFill>
                <a:latin typeface="Calibri" panose="020F0502020204030204"/>
              </a:rPr>
              <a:t>имени </a:t>
            </a:r>
            <a:r>
              <a:rPr lang="ru-RU" sz="2800" dirty="0">
                <a:solidFill>
                  <a:prstClr val="black"/>
                </a:solidFill>
                <a:latin typeface="Calibri" panose="020F0502020204030204"/>
              </a:rPr>
              <a:t>И.С. Тургенева</a:t>
            </a:r>
          </a:p>
        </p:txBody>
      </p:sp>
    </p:spTree>
    <p:extLst>
      <p:ext uri="{BB962C8B-B14F-4D97-AF65-F5344CB8AC3E}">
        <p14:creationId xmlns:p14="http://schemas.microsoft.com/office/powerpoint/2010/main" val="359626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: скругленные углы 3">
            <a:extLst>
              <a:ext uri="{FF2B5EF4-FFF2-40B4-BE49-F238E27FC236}">
                <a16:creationId xmlns:a16="http://schemas.microsoft.com/office/drawing/2014/main" id="{7B63D288-1D72-7F33-230E-D88E06E09A40}"/>
              </a:ext>
            </a:extLst>
          </p:cNvPr>
          <p:cNvSpPr/>
          <p:nvPr/>
        </p:nvSpPr>
        <p:spPr>
          <a:xfrm>
            <a:off x="850059" y="482760"/>
            <a:ext cx="10632558" cy="68661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ct val="50000"/>
              </a:spcBef>
            </a:pPr>
            <a:r>
              <a:rPr lang="ru-RU" altLang="ru-RU" sz="2000" b="1" dirty="0">
                <a:latin typeface="Montserrat" panose="020F0502020204030204" pitchFamily="2" charset="-52"/>
              </a:rPr>
              <a:t>Анализ</a:t>
            </a:r>
            <a:r>
              <a:rPr lang="ru-RU" altLang="ru-RU" sz="2000" dirty="0">
                <a:latin typeface="Montserrat" panose="020F0502020204030204" pitchFamily="2" charset="-52"/>
              </a:rPr>
              <a:t> – </a:t>
            </a:r>
            <a:r>
              <a:rPr lang="ru-RU" altLang="ru-RU" sz="2000" dirty="0" smtClean="0">
                <a:latin typeface="Montserrat" panose="020F0502020204030204" pitchFamily="2" charset="-52"/>
              </a:rPr>
              <a:t>Последовательное формирование понимания исследуемого явления</a:t>
            </a:r>
            <a:endParaRPr lang="ru-RU" altLang="ru-RU" sz="2000" dirty="0">
              <a:latin typeface="Montserrat" panose="020F0502020204030204" pitchFamily="2" charset="-52"/>
            </a:endParaRPr>
          </a:p>
        </p:txBody>
      </p:sp>
      <p:sp>
        <p:nvSpPr>
          <p:cNvPr id="7" name="Прямоугольник: скругленные углы 4">
            <a:extLst>
              <a:ext uri="{FF2B5EF4-FFF2-40B4-BE49-F238E27FC236}">
                <a16:creationId xmlns:a16="http://schemas.microsoft.com/office/drawing/2014/main" id="{CF313A24-2286-F889-0862-6A9E2D828213}"/>
              </a:ext>
            </a:extLst>
          </p:cNvPr>
          <p:cNvSpPr/>
          <p:nvPr/>
        </p:nvSpPr>
        <p:spPr>
          <a:xfrm>
            <a:off x="850059" y="1445618"/>
            <a:ext cx="10632558" cy="70849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ct val="50000"/>
              </a:spcBef>
            </a:pPr>
            <a:r>
              <a:rPr lang="ru-RU" altLang="ru-RU" sz="2000" dirty="0" smtClean="0">
                <a:latin typeface="Montserrat" panose="020F0502020204030204" pitchFamily="2" charset="-52"/>
              </a:rPr>
              <a:t>Процесс понимания явления складывается из отдельных блоков представления об исследуемом явлении</a:t>
            </a:r>
            <a:endParaRPr lang="ru-RU" altLang="ru-RU" sz="2000" dirty="0">
              <a:latin typeface="Montserrat" panose="020F0502020204030204" pitchFamily="2" charset="-52"/>
            </a:endParaRP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2</a:t>
            </a:fld>
            <a:endParaRPr lang="ru-RU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170" y="2953294"/>
            <a:ext cx="11148335" cy="2206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02578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064D9D4-A393-4D09-9D09-E5FCE78AC9D1}"/>
              </a:ext>
            </a:extLst>
          </p:cNvPr>
          <p:cNvSpPr txBox="1"/>
          <p:nvPr/>
        </p:nvSpPr>
        <p:spPr>
          <a:xfrm>
            <a:off x="996802" y="384879"/>
            <a:ext cx="5180714" cy="487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altLang="ru-RU" sz="2500" dirty="0">
                <a:latin typeface="Montserrat" panose="020F0502020204030204" pitchFamily="2" charset="-52"/>
              </a:rPr>
              <a:t>Для чего нужно понимать явление:</a:t>
            </a:r>
            <a:endParaRPr lang="ru-RU" sz="2500" dirty="0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F808796-CEC4-4F26-B9FE-991BBAA98789}"/>
              </a:ext>
            </a:extLst>
          </p:cNvPr>
          <p:cNvSpPr/>
          <p:nvPr/>
        </p:nvSpPr>
        <p:spPr>
          <a:xfrm>
            <a:off x="1996263" y="1028970"/>
            <a:ext cx="5077932" cy="10982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ct val="50000"/>
              </a:spcBef>
            </a:pPr>
            <a:r>
              <a:rPr lang="ru-RU" altLang="ru-RU" sz="2800" dirty="0">
                <a:latin typeface="Montserrat" panose="020F0502020204030204" pitchFamily="2" charset="-52"/>
              </a:rPr>
              <a:t>понимать, опасно ли воздействие этого явления;</a:t>
            </a:r>
          </a:p>
          <a:p>
            <a:pPr algn="ctr"/>
            <a:endParaRPr lang="ru-RU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21C77CB-7DE4-3BB7-C7CD-412EBE333CEF}"/>
              </a:ext>
            </a:extLst>
          </p:cNvPr>
          <p:cNvSpPr/>
          <p:nvPr/>
        </p:nvSpPr>
        <p:spPr>
          <a:xfrm>
            <a:off x="1996263" y="2457277"/>
            <a:ext cx="5077932" cy="16156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ct val="50000"/>
              </a:spcBef>
            </a:pPr>
            <a:r>
              <a:rPr lang="ru-RU" altLang="ru-RU" sz="2800" dirty="0">
                <a:latin typeface="Montserrat" panose="020F0502020204030204" pitchFamily="2" charset="-52"/>
              </a:rPr>
              <a:t>понимать, чтобы оценить это явление для улучшения своей жизнедеятельности.</a:t>
            </a:r>
          </a:p>
        </p:txBody>
      </p: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DE673FB0-F632-E2BC-96A4-6E5B88940BBF}"/>
              </a:ext>
            </a:extLst>
          </p:cNvPr>
          <p:cNvCxnSpPr/>
          <p:nvPr/>
        </p:nvCxnSpPr>
        <p:spPr>
          <a:xfrm>
            <a:off x="1265274" y="872573"/>
            <a:ext cx="0" cy="257839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3D456C5F-8DD7-658E-F91D-C48DC864A4CD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1265274" y="1574321"/>
            <a:ext cx="730989" cy="37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B2DE5BB8-A592-3879-7088-6615FF0F7821}"/>
              </a:ext>
            </a:extLst>
          </p:cNvPr>
          <p:cNvCxnSpPr>
            <a:cxnSpLocks/>
          </p:cNvCxnSpPr>
          <p:nvPr/>
        </p:nvCxnSpPr>
        <p:spPr>
          <a:xfrm flipH="1">
            <a:off x="1265274" y="3450968"/>
            <a:ext cx="73098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589C9805-FE37-8975-5783-D68B873DF8CE}"/>
              </a:ext>
            </a:extLst>
          </p:cNvPr>
          <p:cNvSpPr/>
          <p:nvPr/>
        </p:nvSpPr>
        <p:spPr>
          <a:xfrm>
            <a:off x="1533303" y="4699592"/>
            <a:ext cx="9125393" cy="1529682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0" lang="ru-RU" alt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ontserrat" panose="020F0502020204030204" pitchFamily="2" charset="-52"/>
                <a:ea typeface="+mn-ea"/>
                <a:cs typeface="Arial" panose="020B0604020202020204" pitchFamily="34" charset="0"/>
              </a:rPr>
              <a:t>Знание</a:t>
            </a:r>
            <a:r>
              <a:rPr kumimoji="0" lang="ru-RU" altLang="ru-RU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ontserrat" panose="020F0502020204030204" pitchFamily="2" charset="-52"/>
                <a:ea typeface="+mn-ea"/>
                <a:cs typeface="Arial" panose="020B0604020202020204" pitchFamily="34" charset="0"/>
              </a:rPr>
              <a:t> – лингвистическое описание функционирования объекта</a:t>
            </a:r>
            <a:endParaRPr lang="ru-RU" sz="280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25440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: скругленные углы 4">
            <a:extLst>
              <a:ext uri="{FF2B5EF4-FFF2-40B4-BE49-F238E27FC236}">
                <a16:creationId xmlns:a16="http://schemas.microsoft.com/office/drawing/2014/main" id="{CF313A24-2286-F889-0862-6A9E2D828213}"/>
              </a:ext>
            </a:extLst>
          </p:cNvPr>
          <p:cNvSpPr/>
          <p:nvPr/>
        </p:nvSpPr>
        <p:spPr>
          <a:xfrm>
            <a:off x="850058" y="361401"/>
            <a:ext cx="10632558" cy="70849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ct val="50000"/>
              </a:spcBef>
            </a:pPr>
            <a:r>
              <a:rPr lang="ru-RU" altLang="ru-RU" sz="2000" dirty="0" smtClean="0">
                <a:latin typeface="Montserrat" panose="020F0502020204030204" pitchFamily="2" charset="-52"/>
              </a:rPr>
              <a:t>В результате анализа понимание явление формируется в соответствии с моделью мира в сознании конкретного субъекта</a:t>
            </a:r>
            <a:endParaRPr lang="ru-RU" altLang="ru-RU" sz="2000" dirty="0">
              <a:latin typeface="Montserrat" panose="020F0502020204030204" pitchFamily="2" charset="-52"/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CF313A24-2286-F889-0862-6A9E2D828213}"/>
              </a:ext>
            </a:extLst>
          </p:cNvPr>
          <p:cNvSpPr/>
          <p:nvPr/>
        </p:nvSpPr>
        <p:spPr>
          <a:xfrm>
            <a:off x="2043428" y="1250690"/>
            <a:ext cx="8245815" cy="70849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ct val="50000"/>
              </a:spcBef>
            </a:pPr>
            <a:r>
              <a:rPr lang="ru-RU" altLang="ru-RU" sz="2000" dirty="0" smtClean="0">
                <a:latin typeface="Montserrat" panose="020F0502020204030204" pitchFamily="2" charset="-52"/>
              </a:rPr>
              <a:t>Понимание одного и того же явления у разных людей будет различаться</a:t>
            </a:r>
            <a:endParaRPr lang="ru-RU" altLang="ru-RU" sz="2000" dirty="0">
              <a:latin typeface="Montserrat" panose="020F0502020204030204" pitchFamily="2" charset="-52"/>
            </a:endParaRPr>
          </a:p>
        </p:txBody>
      </p:sp>
      <p:sp>
        <p:nvSpPr>
          <p:cNvPr id="11" name="Прямоугольник: скругленные углы 4">
            <a:extLst>
              <a:ext uri="{FF2B5EF4-FFF2-40B4-BE49-F238E27FC236}">
                <a16:creationId xmlns:a16="http://schemas.microsoft.com/office/drawing/2014/main" id="{CF313A24-2286-F889-0862-6A9E2D828213}"/>
              </a:ext>
            </a:extLst>
          </p:cNvPr>
          <p:cNvSpPr/>
          <p:nvPr/>
        </p:nvSpPr>
        <p:spPr>
          <a:xfrm>
            <a:off x="850057" y="4910026"/>
            <a:ext cx="10632558" cy="1241434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ct val="50000"/>
              </a:spcBef>
            </a:pPr>
            <a:r>
              <a:rPr lang="ru-RU" altLang="ru-RU" sz="2000" b="1" dirty="0" smtClean="0">
                <a:latin typeface="Montserrat" panose="020F0502020204030204" pitchFamily="2" charset="-52"/>
              </a:rPr>
              <a:t>Исследование</a:t>
            </a:r>
            <a:r>
              <a:rPr lang="ru-RU" altLang="ru-RU" sz="2000" dirty="0" smtClean="0">
                <a:latin typeface="Montserrat" panose="020F0502020204030204" pitchFamily="2" charset="-52"/>
              </a:rPr>
              <a:t> необходимо, чтобы фактически проверить и скорректировать сформированное в результате анализа понимание, уточнить его в соответствии с реальностью, и тем самым обогатить свою модель мира</a:t>
            </a:r>
            <a:endParaRPr lang="ru-RU" altLang="ru-RU" sz="2000" dirty="0">
              <a:latin typeface="Montserrat" panose="020F0502020204030204" pitchFamily="2" charset="-52"/>
            </a:endParaRPr>
          </a:p>
        </p:txBody>
      </p:sp>
      <p:sp>
        <p:nvSpPr>
          <p:cNvPr id="14" name="Номер слайда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4</a:t>
            </a:fld>
            <a:endParaRPr lang="ru-RU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3052" y="2406014"/>
            <a:ext cx="4026565" cy="2057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48978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5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3492" y="671241"/>
            <a:ext cx="6909866" cy="2085022"/>
          </a:xfrm>
          <a:prstGeom prst="rect">
            <a:avLst/>
          </a:prstGeom>
        </p:spPr>
      </p:pic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CF313A24-2286-F889-0862-6A9E2D828213}"/>
              </a:ext>
            </a:extLst>
          </p:cNvPr>
          <p:cNvSpPr/>
          <p:nvPr/>
        </p:nvSpPr>
        <p:spPr>
          <a:xfrm>
            <a:off x="842146" y="2998352"/>
            <a:ext cx="10632558" cy="1241434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ct val="50000"/>
              </a:spcBef>
            </a:pPr>
            <a:r>
              <a:rPr lang="ru-RU" altLang="ru-RU" sz="2000" dirty="0" smtClean="0">
                <a:latin typeface="Montserrat" panose="020F0502020204030204" pitchFamily="2" charset="-52"/>
              </a:rPr>
              <a:t>В схеме исследования не определено, как получать знания. Поэтому исследователи получали знания исходя из своих моделей мира и сразу применяли их на практике, что приводило к катастрофическим результатам.</a:t>
            </a:r>
            <a:endParaRPr lang="ru-RU" altLang="ru-RU" sz="2000" dirty="0">
              <a:latin typeface="Montserrat" panose="020F0502020204030204" pitchFamily="2" charset="-52"/>
            </a:endParaRP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5548" y="4702628"/>
            <a:ext cx="10465753" cy="1457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91036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6</a:t>
            </a:fld>
            <a:endParaRPr lang="ru-RU"/>
          </a:p>
        </p:txBody>
      </p:sp>
      <p:sp>
        <p:nvSpPr>
          <p:cNvPr id="9" name="Заголовок 3"/>
          <p:cNvSpPr txBox="1">
            <a:spLocks/>
          </p:cNvSpPr>
          <p:nvPr/>
        </p:nvSpPr>
        <p:spPr>
          <a:xfrm>
            <a:off x="1447949" y="68199"/>
            <a:ext cx="9221689" cy="6604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100794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14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3200" b="1" dirty="0" smtClean="0">
                <a:solidFill>
                  <a:prstClr val="black"/>
                </a:solidFill>
                <a:latin typeface="Calibri Light" panose="020F0302020204030204"/>
              </a:rPr>
              <a:t>Научное исследование</a:t>
            </a:r>
            <a:endParaRPr lang="ru-RU" sz="3200" b="1" dirty="0">
              <a:solidFill>
                <a:prstClr val="black"/>
              </a:solidFill>
              <a:latin typeface="Calibri Light" panose="020F0302020204030204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1447947" y="5151815"/>
            <a:ext cx="9221689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dirty="0" smtClean="0">
                <a:solidFill>
                  <a:prstClr val="black"/>
                </a:solidFill>
                <a:latin typeface="Calibri Light" panose="020F0302020204030204"/>
              </a:rPr>
              <a:t>Поэтому сложный вопрос «Как получают знания» декомпозировали на 2 группы вопросов. При этом под декомпозицией понимается представление более сложного понятия совокупностью более простых понятий.</a:t>
            </a:r>
          </a:p>
        </p:txBody>
      </p:sp>
      <p:graphicFrame>
        <p:nvGraphicFramePr>
          <p:cNvPr id="11" name="Схема 10"/>
          <p:cNvGraphicFramePr/>
          <p:nvPr>
            <p:extLst>
              <p:ext uri="{D42A27DB-BD31-4B8C-83A1-F6EECF244321}">
                <p14:modId xmlns:p14="http://schemas.microsoft.com/office/powerpoint/2010/main" val="2076727684"/>
              </p:ext>
            </p:extLst>
          </p:nvPr>
        </p:nvGraphicFramePr>
        <p:xfrm>
          <a:off x="1356629" y="1011133"/>
          <a:ext cx="9404323" cy="385814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938017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7</a:t>
            </a:fld>
            <a:endParaRPr lang="ru-RU"/>
          </a:p>
        </p:txBody>
      </p:sp>
      <p:sp>
        <p:nvSpPr>
          <p:cNvPr id="5" name="Заголовок 3"/>
          <p:cNvSpPr txBox="1">
            <a:spLocks/>
          </p:cNvSpPr>
          <p:nvPr/>
        </p:nvSpPr>
        <p:spPr>
          <a:xfrm>
            <a:off x="1769519" y="218044"/>
            <a:ext cx="9221689" cy="61353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100794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14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3200" b="1" dirty="0" smtClean="0">
                <a:solidFill>
                  <a:prstClr val="black"/>
                </a:solidFill>
                <a:latin typeface="Calibri Light" panose="020F0302020204030204"/>
              </a:rPr>
              <a:t>Научное исследование</a:t>
            </a:r>
            <a:endParaRPr lang="ru-RU" sz="3200" b="1" dirty="0">
              <a:solidFill>
                <a:prstClr val="black"/>
              </a:solidFill>
              <a:latin typeface="Calibri Light" panose="020F0302020204030204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6657" y="1114384"/>
            <a:ext cx="10077143" cy="5344997"/>
          </a:xfrm>
          <a:prstGeom prst="rect">
            <a:avLst/>
          </a:prstGeom>
        </p:spPr>
      </p:pic>
      <p:sp>
        <p:nvSpPr>
          <p:cNvPr id="7" name="Прямоугольник: скругленные углы 3">
            <a:extLst>
              <a:ext uri="{FF2B5EF4-FFF2-40B4-BE49-F238E27FC236}">
                <a16:creationId xmlns:a16="http://schemas.microsoft.com/office/drawing/2014/main" id="{FA42E480-F299-E4AD-60F0-409BD57E1999}"/>
              </a:ext>
            </a:extLst>
          </p:cNvPr>
          <p:cNvSpPr/>
          <p:nvPr/>
        </p:nvSpPr>
        <p:spPr>
          <a:xfrm>
            <a:off x="646033" y="5417045"/>
            <a:ext cx="5571887" cy="1042336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ct val="50000"/>
              </a:spcBef>
            </a:pPr>
            <a:r>
              <a:rPr lang="ru-RU" altLang="ru-RU" sz="2000" b="1" dirty="0">
                <a:latin typeface="Montserrat" panose="020F0502020204030204" pitchFamily="2" charset="-52"/>
              </a:rPr>
              <a:t>Метод</a:t>
            </a:r>
            <a:r>
              <a:rPr lang="ru-RU" altLang="ru-RU" sz="2000" dirty="0">
                <a:latin typeface="Montserrat" panose="020F0502020204030204" pitchFamily="2" charset="-52"/>
              </a:rPr>
              <a:t> – набор мероприятий в </a:t>
            </a:r>
            <a:r>
              <a:rPr lang="ru-RU" altLang="ru-RU" sz="2000" dirty="0" smtClean="0">
                <a:latin typeface="Montserrat" panose="020F0502020204030204" pitchFamily="2" charset="-52"/>
              </a:rPr>
              <a:t>определенной </a:t>
            </a:r>
            <a:r>
              <a:rPr lang="ru-RU" altLang="ru-RU" sz="2000" dirty="0">
                <a:latin typeface="Montserrat" panose="020F0502020204030204" pitchFamily="2" charset="-52"/>
              </a:rPr>
              <a:t>последовательности </a:t>
            </a:r>
            <a:r>
              <a:rPr lang="ru-RU" altLang="ru-RU" sz="2000" dirty="0" smtClean="0">
                <a:latin typeface="Montserrat" panose="020F0502020204030204" pitchFamily="2" charset="-52"/>
              </a:rPr>
              <a:t>их исполнения </a:t>
            </a:r>
            <a:r>
              <a:rPr lang="ru-RU" altLang="ru-RU" sz="2000" dirty="0">
                <a:latin typeface="Montserrat" panose="020F0502020204030204" pitchFamily="2" charset="-52"/>
              </a:rPr>
              <a:t>для достижения поставленной цели.</a:t>
            </a:r>
          </a:p>
        </p:txBody>
      </p:sp>
    </p:spTree>
    <p:extLst>
      <p:ext uri="{BB962C8B-B14F-4D97-AF65-F5344CB8AC3E}">
        <p14:creationId xmlns:p14="http://schemas.microsoft.com/office/powerpoint/2010/main" val="8441410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8</a:t>
            </a:fld>
            <a:endParaRPr lang="ru-RU"/>
          </a:p>
        </p:txBody>
      </p:sp>
      <p:sp>
        <p:nvSpPr>
          <p:cNvPr id="6" name="Заголовок 3"/>
          <p:cNvSpPr txBox="1">
            <a:spLocks/>
          </p:cNvSpPr>
          <p:nvPr/>
        </p:nvSpPr>
        <p:spPr>
          <a:xfrm>
            <a:off x="1369571" y="0"/>
            <a:ext cx="9221689" cy="6604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100794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14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3200" b="1" dirty="0" smtClean="0">
                <a:solidFill>
                  <a:prstClr val="black"/>
                </a:solidFill>
                <a:latin typeface="Calibri Light" panose="020F0302020204030204"/>
              </a:rPr>
              <a:t>Эмпирический анализ</a:t>
            </a:r>
            <a:endParaRPr lang="ru-RU" sz="3200" b="1" dirty="0">
              <a:solidFill>
                <a:prstClr val="black"/>
              </a:solidFill>
              <a:latin typeface="Calibri Light" panose="020F0302020204030204"/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9571" y="2161416"/>
            <a:ext cx="9221689" cy="4335513"/>
          </a:xfrm>
          <a:prstGeom prst="rect">
            <a:avLst/>
          </a:prstGeom>
        </p:spPr>
      </p:pic>
      <p:sp>
        <p:nvSpPr>
          <p:cNvPr id="9" name="Прямоугольник: скругленные углы 4">
            <a:extLst>
              <a:ext uri="{FF2B5EF4-FFF2-40B4-BE49-F238E27FC236}">
                <a16:creationId xmlns:a16="http://schemas.microsoft.com/office/drawing/2014/main" id="{C22B179D-EA5F-4A76-9945-D61C9FA94B98}"/>
              </a:ext>
            </a:extLst>
          </p:cNvPr>
          <p:cNvSpPr/>
          <p:nvPr/>
        </p:nvSpPr>
        <p:spPr>
          <a:xfrm>
            <a:off x="810653" y="917312"/>
            <a:ext cx="10632558" cy="987192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r>
              <a:rPr lang="ru-RU" sz="2000" b="1" dirty="0">
                <a:solidFill>
                  <a:sysClr val="windowText" lastClr="000000">
                    <a:hueOff val="0"/>
                    <a:satOff val="0"/>
                    <a:lumOff val="0"/>
                    <a:alphaOff val="0"/>
                  </a:sysClr>
                </a:solidFill>
                <a:latin typeface="Calibri Light" panose="020F0302020204030204"/>
              </a:rPr>
              <a:t>Эмпирический анализ </a:t>
            </a:r>
            <a:r>
              <a:rPr lang="ru-RU" sz="2000" dirty="0">
                <a:solidFill>
                  <a:sysClr val="windowText" lastClr="000000">
                    <a:hueOff val="0"/>
                    <a:satOff val="0"/>
                    <a:lumOff val="0"/>
                    <a:alphaOff val="0"/>
                  </a:sysClr>
                </a:solidFill>
                <a:latin typeface="Calibri Light" panose="020F0302020204030204"/>
              </a:rPr>
              <a:t>– это компонент, отвечающий на вопросы «как систематизировать известные знания об объекте исследования» и «как разработать метод получения знаний об объекте исследования».</a:t>
            </a:r>
            <a:endParaRPr lang="ru-RU" sz="20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Calibri Light" panose="020F03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0740336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71CF8-A131-ECE0-571A-A51C6D3D6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126" y="467120"/>
            <a:ext cx="2835693" cy="5820633"/>
          </a:xfrm>
          <a:prstGeom prst="rect">
            <a:avLst/>
          </a:prstGeom>
        </p:spPr>
      </p:pic>
      <p:sp>
        <p:nvSpPr>
          <p:cNvPr id="12" name="Прямоугольник 11"/>
          <p:cNvSpPr/>
          <p:nvPr/>
        </p:nvSpPr>
        <p:spPr>
          <a:xfrm>
            <a:off x="1427617" y="2777271"/>
            <a:ext cx="4267331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altLang="ru-RU" sz="3600" dirty="0" smtClean="0">
                <a:latin typeface="Montserrat" panose="020F0502020204030204" pitchFamily="2" charset="-52"/>
              </a:rPr>
              <a:t>Классическая схема исследования:</a:t>
            </a:r>
            <a:endParaRPr lang="ru-RU" sz="3600" dirty="0"/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46205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4C8B0-537D-E651-F25B-FDC4E034A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A476D7F8-413A-9C99-5617-D0A7002811F3}"/>
              </a:ext>
            </a:extLst>
          </p:cNvPr>
          <p:cNvSpPr/>
          <p:nvPr/>
        </p:nvSpPr>
        <p:spPr>
          <a:xfrm>
            <a:off x="696656" y="3994947"/>
            <a:ext cx="3288118" cy="9917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ru-RU" altLang="ru-RU" sz="2800" dirty="0">
                <a:solidFill>
                  <a:prstClr val="black"/>
                </a:solidFill>
                <a:latin typeface="Montserrat" panose="020F0502020204030204" pitchFamily="2" charset="-52"/>
              </a:rPr>
              <a:t>Системным</a:t>
            </a:r>
            <a:r>
              <a:rPr kumimoji="0" lang="ru-RU" altLang="ru-RU" sz="28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ontserrat" panose="020F0502020204030204" pitchFamily="2" charset="-52"/>
                <a:ea typeface="+mn-ea"/>
                <a:cs typeface="+mn-cs"/>
              </a:rPr>
              <a:t> методом</a:t>
            </a:r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C707DE69-1907-7C33-EEB2-A12E9AC5A554}"/>
              </a:ext>
            </a:extLst>
          </p:cNvPr>
          <p:cNvSpPr/>
          <p:nvPr/>
        </p:nvSpPr>
        <p:spPr>
          <a:xfrm>
            <a:off x="4688013" y="4028470"/>
            <a:ext cx="3059193" cy="9581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ru-RU" altLang="ru-RU" sz="2800" dirty="0">
                <a:solidFill>
                  <a:prstClr val="black"/>
                </a:solidFill>
                <a:latin typeface="Montserrat" panose="020F0502020204030204" pitchFamily="2" charset="-52"/>
              </a:rPr>
              <a:t>Теорией систем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B00DFF7E-2A82-90A0-F7A7-4429FB5181E5}"/>
              </a:ext>
            </a:extLst>
          </p:cNvPr>
          <p:cNvSpPr/>
          <p:nvPr/>
        </p:nvSpPr>
        <p:spPr>
          <a:xfrm>
            <a:off x="2002687" y="1586232"/>
            <a:ext cx="8429847" cy="14885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altLang="ru-RU" sz="2800" dirty="0">
                <a:latin typeface="Montserrat" panose="020F0502020204030204" pitchFamily="2" charset="-52"/>
              </a:rPr>
              <a:t>Системный подход к организации требуемого функционирования объектов (как систем) (кратко – системный анализ</a:t>
            </a:r>
            <a:r>
              <a:rPr lang="ru-RU" altLang="ru-RU" sz="2800" dirty="0" smtClean="0">
                <a:latin typeface="Montserrat" panose="020F0502020204030204" pitchFamily="2" charset="-52"/>
              </a:rPr>
              <a:t>)</a:t>
            </a:r>
            <a:endParaRPr lang="ru-RU" altLang="ru-RU" sz="2800" dirty="0">
              <a:latin typeface="Montserrat" panose="020F0502020204030204" pitchFamily="2" charset="-52"/>
            </a:endParaRP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A664889-BE0D-56BF-9F5F-AA44C3349ED1}"/>
              </a:ext>
            </a:extLst>
          </p:cNvPr>
          <p:cNvSpPr/>
          <p:nvPr/>
        </p:nvSpPr>
        <p:spPr>
          <a:xfrm>
            <a:off x="8450445" y="3994947"/>
            <a:ext cx="3188561" cy="9917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ru-RU" altLang="ru-RU" sz="2800" dirty="0">
                <a:solidFill>
                  <a:prstClr val="black"/>
                </a:solidFill>
                <a:latin typeface="Montserrat" panose="020F0502020204030204" pitchFamily="2" charset="-52"/>
              </a:rPr>
              <a:t>Трансакционным анализом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CDE88897-F9BE-A1C2-BB50-211F16D28271}"/>
              </a:ext>
            </a:extLst>
          </p:cNvPr>
          <p:cNvCxnSpPr>
            <a:endCxn id="13" idx="0"/>
          </p:cNvCxnSpPr>
          <p:nvPr/>
        </p:nvCxnSpPr>
        <p:spPr>
          <a:xfrm flipH="1">
            <a:off x="6217610" y="3074790"/>
            <a:ext cx="1" cy="9536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CDE88897-F9BE-A1C2-BB50-211F16D28271}"/>
              </a:ext>
            </a:extLst>
          </p:cNvPr>
          <p:cNvCxnSpPr/>
          <p:nvPr/>
        </p:nvCxnSpPr>
        <p:spPr>
          <a:xfrm>
            <a:off x="9544286" y="3074790"/>
            <a:ext cx="4663" cy="9201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Прямая соединительная линия 9">
            <a:extLst>
              <a:ext uri="{FF2B5EF4-FFF2-40B4-BE49-F238E27FC236}">
                <a16:creationId xmlns:a16="http://schemas.microsoft.com/office/drawing/2014/main" id="{CDE88897-F9BE-A1C2-BB50-211F16D28271}"/>
              </a:ext>
            </a:extLst>
          </p:cNvPr>
          <p:cNvCxnSpPr/>
          <p:nvPr/>
        </p:nvCxnSpPr>
        <p:spPr>
          <a:xfrm>
            <a:off x="2869165" y="3074790"/>
            <a:ext cx="4664" cy="9201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Номер слайда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08AD6-07C1-4267-9B3C-85DF7FE192DE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74304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270</TotalTime>
  <Words>309</Words>
  <Application>Microsoft Office PowerPoint</Application>
  <PresentationFormat>Широкоэкранный</PresentationFormat>
  <Paragraphs>40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Calibri Light</vt:lpstr>
      <vt:lpstr>Montserrat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Отчет по лабораторной работе №1</dc:title>
  <dc:creator>Ivan Vasileniya</dc:creator>
  <cp:lastModifiedBy>ИВАН</cp:lastModifiedBy>
  <cp:revision>62</cp:revision>
  <cp:lastPrinted>2025-10-09T16:50:56Z</cp:lastPrinted>
  <dcterms:created xsi:type="dcterms:W3CDTF">2025-10-07T12:32:20Z</dcterms:created>
  <dcterms:modified xsi:type="dcterms:W3CDTF">2025-11-20T18:35:55Z</dcterms:modified>
</cp:coreProperties>
</file>