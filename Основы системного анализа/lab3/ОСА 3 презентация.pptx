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69" r:id="rId3"/>
    <p:sldId id="270" r:id="rId4"/>
    <p:sldId id="272" r:id="rId5"/>
    <p:sldId id="274" r:id="rId6"/>
    <p:sldId id="275" r:id="rId7"/>
    <p:sldId id="276" r:id="rId8"/>
    <p:sldId id="277" r:id="rId9"/>
  </p:sldIdLst>
  <p:sldSz cx="10691813" cy="7559675"/>
  <p:notesSz cx="6761163" cy="99425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51" autoAdjust="0"/>
  </p:normalViewPr>
  <p:slideViewPr>
    <p:cSldViewPr snapToGrid="0">
      <p:cViewPr varScale="1">
        <p:scale>
          <a:sx n="99" d="100"/>
          <a:sy n="99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A3B39-FE63-434E-AB9C-F87AF0466FCD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08063" y="1243013"/>
            <a:ext cx="47450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C364F-F8CC-47C4-9B50-43B8A9D1E2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39ECB-35BB-47E3-A569-D40D884548C4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51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DBFA7-04DC-4042-9487-9943C96D0EA0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46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246E-416F-4CF0-B768-3AF4C23B2C03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97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5797-ACF3-47A1-B235-FCF79E909B8F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1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1D5D-FA8A-4E87-AEE5-53FC8E9C529F}" type="datetime1">
              <a:rPr lang="ru-RU" smtClean="0"/>
              <a:t>27.12.2025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30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7DFB-E632-4C6D-A9E1-3925D811D561}" type="datetime1">
              <a:rPr lang="ru-RU" smtClean="0"/>
              <a:t>27.12.2025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72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8E215-C6A9-4473-87F4-81BFEC50F53C}" type="datetime1">
              <a:rPr lang="ru-RU" smtClean="0"/>
              <a:t>27.12.2025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77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6F55-8C2A-42C9-8F07-2D37B8D47068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34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59D5-AE64-40D1-8DB1-A121067050E1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21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D3EB-22A1-41CC-9F98-985918856F96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06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023D0-1694-43EE-87FB-4253F8D62945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23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2C624-7EFC-46A2-9304-A58646640221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74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4650" y="2186751"/>
            <a:ext cx="8562512" cy="17453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Основы системного анализа</a:t>
            </a:r>
            <a:endParaRPr lang="ru-RU" sz="2105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71104" y="4988868"/>
            <a:ext cx="5209993" cy="836200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 smtClean="0"/>
              <a:t>Студент: </a:t>
            </a:r>
            <a:r>
              <a:rPr lang="ru-RU" dirty="0" err="1" smtClean="0"/>
              <a:t>Василения</a:t>
            </a:r>
            <a:r>
              <a:rPr lang="ru-RU" dirty="0" smtClean="0"/>
              <a:t> Иван Валерьевич</a:t>
            </a:r>
          </a:p>
          <a:p>
            <a:pPr algn="r"/>
            <a:r>
              <a:rPr lang="ru-RU" dirty="0" smtClean="0"/>
              <a:t>Преподаватель: Раков Владимир Иванович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4049636" y="6643599"/>
            <a:ext cx="2592540" cy="476497"/>
          </a:xfrm>
          <a:prstGeom prst="rect">
            <a:avLst/>
          </a:prstGeom>
        </p:spPr>
        <p:txBody>
          <a:bodyPr vert="horz" lIns="80189" tIns="40094" rIns="80189" bIns="40094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754" dirty="0" smtClean="0"/>
              <a:t>Орёл, 2025г</a:t>
            </a:r>
            <a:r>
              <a:rPr lang="ru-RU" sz="1754" dirty="0"/>
              <a:t>.</a:t>
            </a:r>
            <a:endParaRPr lang="ru-RU" sz="1403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064650" y="3925782"/>
            <a:ext cx="8562512" cy="394100"/>
          </a:xfrm>
          <a:prstGeom prst="rect">
            <a:avLst/>
          </a:prstGeom>
        </p:spPr>
        <p:txBody>
          <a:bodyPr vert="horz" lIns="80189" tIns="40094" rIns="80189" bIns="40094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105" dirty="0"/>
              <a:t>Лабораторная работа </a:t>
            </a:r>
            <a:r>
              <a:rPr lang="ru-RU" sz="2105" dirty="0" smtClean="0"/>
              <a:t>№</a:t>
            </a:r>
            <a:r>
              <a:rPr lang="en-US" sz="2105" dirty="0" smtClean="0"/>
              <a:t>3</a:t>
            </a:r>
            <a:endParaRPr lang="ru-RU" sz="2105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064651" y="643303"/>
            <a:ext cx="8562511" cy="932159"/>
          </a:xfrm>
          <a:prstGeom prst="rect">
            <a:avLst/>
          </a:prstGeom>
        </p:spPr>
        <p:txBody>
          <a:bodyPr vert="horz" lIns="80189" tIns="40094" rIns="80189" bIns="40094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Орловский государственный </a:t>
            </a:r>
            <a:r>
              <a:rPr lang="ru-RU" sz="2800" dirty="0" smtClean="0"/>
              <a:t>университет</a:t>
            </a:r>
          </a:p>
          <a:p>
            <a:r>
              <a:rPr lang="ru-RU" sz="2800" dirty="0" smtClean="0"/>
              <a:t>имени </a:t>
            </a:r>
            <a:r>
              <a:rPr lang="ru-RU" sz="2800" dirty="0"/>
              <a:t>И.С. Тургенева</a:t>
            </a:r>
          </a:p>
        </p:txBody>
      </p:sp>
    </p:spTree>
    <p:extLst>
      <p:ext uri="{BB962C8B-B14F-4D97-AF65-F5344CB8AC3E}">
        <p14:creationId xmlns:p14="http://schemas.microsoft.com/office/powerpoint/2010/main" val="38266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Теория систем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2</a:t>
            </a:fld>
            <a:endParaRPr lang="ru-RU" sz="2400"/>
          </a:p>
        </p:txBody>
      </p:sp>
      <p:sp>
        <p:nvSpPr>
          <p:cNvPr id="5" name="Заголовок 3"/>
          <p:cNvSpPr txBox="1">
            <a:spLocks/>
          </p:cNvSpPr>
          <p:nvPr/>
        </p:nvSpPr>
        <p:spPr>
          <a:xfrm>
            <a:off x="729491" y="1199345"/>
            <a:ext cx="9221689" cy="6902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 smtClean="0"/>
          </a:p>
        </p:txBody>
      </p:sp>
      <p:sp>
        <p:nvSpPr>
          <p:cNvPr id="16" name="Заголовок 3"/>
          <p:cNvSpPr txBox="1">
            <a:spLocks/>
          </p:cNvSpPr>
          <p:nvPr/>
        </p:nvSpPr>
        <p:spPr>
          <a:xfrm>
            <a:off x="729491" y="2496467"/>
            <a:ext cx="9221689" cy="6236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/>
          </a:p>
        </p:txBody>
      </p:sp>
      <p:sp>
        <p:nvSpPr>
          <p:cNvPr id="18" name="Заголовок 3"/>
          <p:cNvSpPr txBox="1">
            <a:spLocks/>
          </p:cNvSpPr>
          <p:nvPr/>
        </p:nvSpPr>
        <p:spPr>
          <a:xfrm>
            <a:off x="874539" y="2346163"/>
            <a:ext cx="9221689" cy="4481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08" y="3652023"/>
            <a:ext cx="7405322" cy="2319609"/>
          </a:xfrm>
          <a:prstGeom prst="rect">
            <a:avLst/>
          </a:prstGeom>
        </p:spPr>
      </p:pic>
      <p:sp>
        <p:nvSpPr>
          <p:cNvPr id="9" name="Заголовок 3"/>
          <p:cNvSpPr txBox="1">
            <a:spLocks/>
          </p:cNvSpPr>
          <p:nvPr/>
        </p:nvSpPr>
        <p:spPr>
          <a:xfrm>
            <a:off x="729491" y="6191460"/>
            <a:ext cx="9221689" cy="4479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 smtClean="0"/>
          </a:p>
        </p:txBody>
      </p:sp>
      <p:sp>
        <p:nvSpPr>
          <p:cNvPr id="10" name="Прямоугольник 9"/>
          <p:cNvSpPr/>
          <p:nvPr/>
        </p:nvSpPr>
        <p:spPr>
          <a:xfrm>
            <a:off x="729490" y="1074387"/>
            <a:ext cx="9511789" cy="1104594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2400" b="1" dirty="0"/>
              <a:t>Теория систем</a:t>
            </a:r>
            <a:r>
              <a:rPr lang="ru-RU" sz="2400" dirty="0"/>
              <a:t> </a:t>
            </a:r>
            <a:r>
              <a:rPr lang="ru-RU" sz="2400" b="1" dirty="0"/>
              <a:t>– </a:t>
            </a:r>
            <a:r>
              <a:rPr lang="ru-RU" sz="2400" dirty="0"/>
              <a:t>научная методологическая концепция исследования объектов, представляющих собой системы</a:t>
            </a:r>
            <a:endParaRPr lang="ru-RU" sz="2400" dirty="0">
              <a:solidFill>
                <a:prstClr val="black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29487" y="2322193"/>
            <a:ext cx="9511789" cy="472137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/>
              <a:t>Методология</a:t>
            </a:r>
            <a:r>
              <a:rPr lang="ru-RU" sz="2400" dirty="0"/>
              <a:t> – наука о методе – как получить метод.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29487" y="2958937"/>
            <a:ext cx="9511789" cy="528479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/>
              <a:t>Изоморфизм</a:t>
            </a:r>
            <a:r>
              <a:rPr lang="ru-RU" sz="2400" dirty="0"/>
              <a:t> – заданное отношение эквивалентности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29487" y="6136239"/>
            <a:ext cx="9511789" cy="528479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/>
              <a:t>Концепция </a:t>
            </a:r>
            <a:r>
              <a:rPr lang="ru-RU" sz="2400" dirty="0"/>
              <a:t>– метод понимания действительности и её трактовка.</a:t>
            </a:r>
          </a:p>
        </p:txBody>
      </p:sp>
    </p:spTree>
    <p:extLst>
      <p:ext uri="{BB962C8B-B14F-4D97-AF65-F5344CB8AC3E}">
        <p14:creationId xmlns:p14="http://schemas.microsoft.com/office/powerpoint/2010/main" val="218083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Транзакционный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3</a:t>
            </a:fld>
            <a:endParaRPr lang="ru-RU" sz="2400"/>
          </a:p>
        </p:txBody>
      </p:sp>
      <p:sp>
        <p:nvSpPr>
          <p:cNvPr id="5" name="Заголовок 3"/>
          <p:cNvSpPr txBox="1">
            <a:spLocks/>
          </p:cNvSpPr>
          <p:nvPr/>
        </p:nvSpPr>
        <p:spPr>
          <a:xfrm>
            <a:off x="729491" y="1127561"/>
            <a:ext cx="9319584" cy="13717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200" dirty="0"/>
          </a:p>
        </p:txBody>
      </p:sp>
      <p:sp>
        <p:nvSpPr>
          <p:cNvPr id="9" name="Заголовок 3"/>
          <p:cNvSpPr txBox="1">
            <a:spLocks/>
          </p:cNvSpPr>
          <p:nvPr/>
        </p:nvSpPr>
        <p:spPr>
          <a:xfrm>
            <a:off x="729491" y="5803053"/>
            <a:ext cx="9414253" cy="4321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2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407" y="3042709"/>
            <a:ext cx="7863519" cy="2715170"/>
          </a:xfrm>
          <a:prstGeom prst="rect">
            <a:avLst/>
          </a:prstGeom>
        </p:spPr>
      </p:pic>
      <p:sp>
        <p:nvSpPr>
          <p:cNvPr id="7" name="Заголовок 3"/>
          <p:cNvSpPr txBox="1">
            <a:spLocks/>
          </p:cNvSpPr>
          <p:nvPr/>
        </p:nvSpPr>
        <p:spPr>
          <a:xfrm>
            <a:off x="752675" y="6712445"/>
            <a:ext cx="9395782" cy="3741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200" dirty="0" smtClean="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52675" y="6280336"/>
            <a:ext cx="9395782" cy="3869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200" dirty="0" smtClean="0"/>
          </a:p>
        </p:txBody>
      </p:sp>
      <p:sp>
        <p:nvSpPr>
          <p:cNvPr id="10" name="Прямоугольник 9"/>
          <p:cNvSpPr/>
          <p:nvPr/>
        </p:nvSpPr>
        <p:spPr>
          <a:xfrm>
            <a:off x="694671" y="1300813"/>
            <a:ext cx="9844992" cy="1606016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/>
              <a:t>Транзакционный анализ </a:t>
            </a:r>
            <a:r>
              <a:rPr lang="ru-RU" sz="2400" dirty="0"/>
              <a:t>оперирует со сценариями возможного функционирования объекта и направлен на такое изменение процесса функционирования объекта, которое исключило бы факторы, мешающие его «эффективной» работе или «полноценной» коммуникации.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94671" y="5803053"/>
            <a:ext cx="9777616" cy="3626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000" b="1" dirty="0"/>
              <a:t>Предназначение транзакционного анализа </a:t>
            </a:r>
            <a:r>
              <a:rPr lang="ru-RU" sz="2000" dirty="0"/>
              <a:t>– коррекция жизненного сценария.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694671" y="6284550"/>
            <a:ext cx="9777616" cy="3626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000" b="1" dirty="0"/>
              <a:t>Сценарий </a:t>
            </a:r>
            <a:r>
              <a:rPr lang="ru-RU" sz="2000" dirty="0"/>
              <a:t>– это исходный план функционирования.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694671" y="6738807"/>
            <a:ext cx="9777616" cy="3626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000" b="1" dirty="0" err="1"/>
              <a:t>Контрсценарий</a:t>
            </a:r>
            <a:r>
              <a:rPr lang="ru-RU" sz="2000" b="1" dirty="0"/>
              <a:t> </a:t>
            </a:r>
            <a:r>
              <a:rPr lang="ru-RU" sz="2000" dirty="0"/>
              <a:t>– последовательность действий для изменения сценария.</a:t>
            </a:r>
          </a:p>
        </p:txBody>
      </p:sp>
    </p:spTree>
    <p:extLst>
      <p:ext uri="{BB962C8B-B14F-4D97-AF65-F5344CB8AC3E}">
        <p14:creationId xmlns:p14="http://schemas.microsoft.com/office/powerpoint/2010/main" val="382186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4</a:t>
            </a:fld>
            <a:endParaRPr lang="ru-RU" sz="240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29490" y="1142212"/>
            <a:ext cx="9350669" cy="18489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/>
          </a:p>
        </p:txBody>
      </p:sp>
      <p:sp>
        <p:nvSpPr>
          <p:cNvPr id="11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Системный анализ</a:t>
            </a:r>
            <a:endParaRPr lang="ru-RU" sz="3200" b="1" dirty="0"/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729491" y="4038620"/>
            <a:ext cx="9221689" cy="4135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/>
              <a:t>Таким образом, в системном </a:t>
            </a:r>
            <a:r>
              <a:rPr lang="ru-RU" sz="2400" dirty="0" smtClean="0"/>
              <a:t>анализе:</a:t>
            </a:r>
          </a:p>
        </p:txBody>
      </p:sp>
      <p:sp>
        <p:nvSpPr>
          <p:cNvPr id="13" name="Заголовок 3"/>
          <p:cNvSpPr txBox="1">
            <a:spLocks/>
          </p:cNvSpPr>
          <p:nvPr/>
        </p:nvSpPr>
        <p:spPr>
          <a:xfrm>
            <a:off x="729491" y="3346392"/>
            <a:ext cx="9221689" cy="3529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91" y="4635500"/>
            <a:ext cx="9350668" cy="213148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78580" y="1099427"/>
            <a:ext cx="9844992" cy="2023314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dirty="0"/>
              <a:t>Транзакционный анализ исходит из того, что транзакции как единицы общения, состоящие из стимула и реакции, изначально формируют строго заданное количество состояний объекта, в одном из которых он может находиться в каждый момент времени и взаимодействовать с соответствующими состояниями других объектов.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78580" y="3287198"/>
            <a:ext cx="9844992" cy="387847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dirty="0"/>
              <a:t>Реакция</a:t>
            </a:r>
            <a:r>
              <a:rPr lang="ru-RU" sz="2400" dirty="0"/>
              <a:t> – выходная функция, стимул – входная.</a:t>
            </a:r>
          </a:p>
        </p:txBody>
      </p:sp>
    </p:spTree>
    <p:extLst>
      <p:ext uri="{BB962C8B-B14F-4D97-AF65-F5344CB8AC3E}">
        <p14:creationId xmlns:p14="http://schemas.microsoft.com/office/powerpoint/2010/main" val="6847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5</a:t>
            </a:fld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599180" y="288758"/>
            <a:ext cx="6951913" cy="943276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2400" dirty="0">
                <a:solidFill>
                  <a:prstClr val="black"/>
                </a:solidFill>
              </a:rPr>
              <a:t>В целом, </a:t>
            </a:r>
            <a:r>
              <a:rPr lang="ru-RU" sz="2400" b="1" dirty="0">
                <a:solidFill>
                  <a:prstClr val="black"/>
                </a:solidFill>
              </a:rPr>
              <a:t>в системном анализе</a:t>
            </a:r>
            <a:r>
              <a:rPr lang="ru-RU" sz="2400" dirty="0">
                <a:solidFill>
                  <a:prstClr val="black"/>
                </a:solidFill>
              </a:rPr>
              <a:t> считают, что: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D71F4-6369-4FD7-8E84-36AB8B8D2028}"/>
              </a:ext>
            </a:extLst>
          </p:cNvPr>
          <p:cNvSpPr txBox="1"/>
          <p:nvPr/>
        </p:nvSpPr>
        <p:spPr>
          <a:xfrm>
            <a:off x="599180" y="1456289"/>
            <a:ext cx="3747962" cy="7078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r>
              <a:rPr lang="ru-RU" sz="2000" dirty="0"/>
              <a:t>1. Целое обладает свойствами, отсутствующими у его частей.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E12ED-FF99-4C39-8052-4B0D73E2E4F5}"/>
              </a:ext>
            </a:extLst>
          </p:cNvPr>
          <p:cNvSpPr txBox="1"/>
          <p:nvPr/>
        </p:nvSpPr>
        <p:spPr>
          <a:xfrm>
            <a:off x="599180" y="5683261"/>
            <a:ext cx="5541738" cy="1323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ru-RU" sz="2000" dirty="0"/>
              <a:t>2. Прерогативой (преимуществом) организации исследования является непрерывная интеграция различных представлений о системе на каждом этапе её создания.</a:t>
            </a:r>
          </a:p>
        </p:txBody>
      </p:sp>
      <p:pic>
        <p:nvPicPr>
          <p:cNvPr id="1026" name="Picture 2" descr="Векторы на тему «Велосипед без фона» — скачивайте бесплатные векторы  высокого качества на Freepik | Freepi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2776123"/>
            <a:ext cx="2295190" cy="229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Вектор рамы и подвески горного велосипеда с высоким разрешением скачать  бесплатно PNG , велосипед, горный велосипед, кататься на велосипеде PNG  рисунок для бесплатной загрузки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652" y="2462650"/>
            <a:ext cx="3811605" cy="260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3773996" y="2557709"/>
            <a:ext cx="1244251" cy="2646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600" dirty="0"/>
              <a:t>≠</a:t>
            </a:r>
          </a:p>
        </p:txBody>
      </p:sp>
    </p:spTree>
    <p:extLst>
      <p:ext uri="{BB962C8B-B14F-4D97-AF65-F5344CB8AC3E}">
        <p14:creationId xmlns:p14="http://schemas.microsoft.com/office/powerpoint/2010/main" val="178586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6</a:t>
            </a:fld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599180" y="288758"/>
            <a:ext cx="6951913" cy="943276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2400" dirty="0">
                <a:solidFill>
                  <a:prstClr val="black"/>
                </a:solidFill>
              </a:rPr>
              <a:t>В целом, </a:t>
            </a:r>
            <a:r>
              <a:rPr lang="ru-RU" sz="2400" b="1" dirty="0">
                <a:solidFill>
                  <a:prstClr val="black"/>
                </a:solidFill>
              </a:rPr>
              <a:t>в системном анализе</a:t>
            </a:r>
            <a:r>
              <a:rPr lang="ru-RU" sz="2400" dirty="0">
                <a:solidFill>
                  <a:prstClr val="black"/>
                </a:solidFill>
              </a:rPr>
              <a:t> считают, что: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D71F4-6369-4FD7-8E84-36AB8B8D2028}"/>
              </a:ext>
            </a:extLst>
          </p:cNvPr>
          <p:cNvSpPr txBox="1"/>
          <p:nvPr/>
        </p:nvSpPr>
        <p:spPr>
          <a:xfrm>
            <a:off x="599179" y="1456289"/>
            <a:ext cx="6951913" cy="7078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r>
              <a:rPr lang="ru-RU" sz="2000" dirty="0"/>
              <a:t>3. Частные цели составляющих системы компонентов подчиняются общей цели функционирования системы.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E12ED-FF99-4C39-8052-4B0D73E2E4F5}"/>
              </a:ext>
            </a:extLst>
          </p:cNvPr>
          <p:cNvSpPr txBox="1"/>
          <p:nvPr/>
        </p:nvSpPr>
        <p:spPr>
          <a:xfrm>
            <a:off x="599179" y="6301929"/>
            <a:ext cx="5541738" cy="7078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ru-RU" sz="2000" dirty="0"/>
              <a:t>4. При организации функционирования систем целостность определяется принципом.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381" y="2582266"/>
            <a:ext cx="5229547" cy="307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0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7</a:t>
            </a:fld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599180" y="288758"/>
            <a:ext cx="6951913" cy="943276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2400" dirty="0">
                <a:solidFill>
                  <a:prstClr val="black"/>
                </a:solidFill>
              </a:rPr>
              <a:t>В целом, </a:t>
            </a:r>
            <a:r>
              <a:rPr lang="ru-RU" sz="2400" b="1" dirty="0">
                <a:solidFill>
                  <a:prstClr val="black"/>
                </a:solidFill>
              </a:rPr>
              <a:t>в системном анализе</a:t>
            </a:r>
            <a:r>
              <a:rPr lang="ru-RU" sz="2400" dirty="0">
                <a:solidFill>
                  <a:prstClr val="black"/>
                </a:solidFill>
              </a:rPr>
              <a:t> считают, что: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D71F4-6369-4FD7-8E84-36AB8B8D2028}"/>
              </a:ext>
            </a:extLst>
          </p:cNvPr>
          <p:cNvSpPr txBox="1"/>
          <p:nvPr/>
        </p:nvSpPr>
        <p:spPr>
          <a:xfrm>
            <a:off x="1898589" y="1759545"/>
            <a:ext cx="6951913" cy="16312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pPr algn="just"/>
            <a:r>
              <a:rPr lang="ru-RU" sz="2000" dirty="0"/>
              <a:t>5. Многократность разбиения объекта и его локально организованной среды декларируется (объявляется) "системным механизмом", предопределяющим формирование углубленных и всесторонних представлений об объекте в динамически меняющейся в среде применения.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E12ED-FF99-4C39-8052-4B0D73E2E4F5}"/>
              </a:ext>
            </a:extLst>
          </p:cNvPr>
          <p:cNvSpPr txBox="1"/>
          <p:nvPr/>
        </p:nvSpPr>
        <p:spPr>
          <a:xfrm>
            <a:off x="1898589" y="4596074"/>
            <a:ext cx="6951913" cy="16312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6. Создание сценариев, определяющих структуру процесса функционирования объекта, и </a:t>
            </a:r>
            <a:r>
              <a:rPr lang="ru-RU" sz="2000" dirty="0" err="1"/>
              <a:t>контрсценариев</a:t>
            </a:r>
            <a:r>
              <a:rPr lang="ru-RU" sz="2000" dirty="0"/>
              <a:t> для изменения текущего функционирования обеспечивает возможности корректирования (изменения) нежелательной динамики действующего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228797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8</a:t>
            </a:fld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599180" y="288758"/>
            <a:ext cx="6951913" cy="943276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2400" dirty="0">
                <a:solidFill>
                  <a:prstClr val="black"/>
                </a:solidFill>
              </a:rPr>
              <a:t>В целом, </a:t>
            </a:r>
            <a:r>
              <a:rPr lang="ru-RU" sz="2400" b="1" dirty="0">
                <a:solidFill>
                  <a:prstClr val="black"/>
                </a:solidFill>
              </a:rPr>
              <a:t>в системном анализе</a:t>
            </a:r>
            <a:r>
              <a:rPr lang="ru-RU" sz="2400" dirty="0">
                <a:solidFill>
                  <a:prstClr val="black"/>
                </a:solidFill>
              </a:rPr>
              <a:t> считают, что: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D71F4-6369-4FD7-8E84-36AB8B8D2028}"/>
              </a:ext>
            </a:extLst>
          </p:cNvPr>
          <p:cNvSpPr txBox="1"/>
          <p:nvPr/>
        </p:nvSpPr>
        <p:spPr>
          <a:xfrm>
            <a:off x="599179" y="1597816"/>
            <a:ext cx="9026084" cy="1323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pPr algn="just"/>
            <a:r>
              <a:rPr lang="ru-RU" sz="2000" dirty="0"/>
              <a:t>7. Формулирование "системного механизма" (новой идеи) для формирования </a:t>
            </a:r>
            <a:r>
              <a:rPr lang="ru-RU" sz="2000" dirty="0" err="1"/>
              <a:t>антисценария</a:t>
            </a:r>
            <a:r>
              <a:rPr lang="ru-RU" sz="2000" dirty="0"/>
              <a:t> обуславливает возможности организации корректирования процесса функционирования на различных временных участках функционирования.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D946C8-8726-4387-9E6A-FC6291E69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002" y="3320480"/>
            <a:ext cx="6096000" cy="31907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E4271-F29D-4D88-9A90-BB93AA70AA36}"/>
              </a:ext>
            </a:extLst>
          </p:cNvPr>
          <p:cNvSpPr txBox="1"/>
          <p:nvPr/>
        </p:nvSpPr>
        <p:spPr>
          <a:xfrm>
            <a:off x="2680036" y="5313905"/>
            <a:ext cx="2039610" cy="5847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Сценарий: движение по маршруту 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AAF59-FB03-40FB-B296-7CC14580AEB8}"/>
              </a:ext>
            </a:extLst>
          </p:cNvPr>
          <p:cNvSpPr txBox="1"/>
          <p:nvPr/>
        </p:nvSpPr>
        <p:spPr>
          <a:xfrm rot="644037">
            <a:off x="7068033" y="4310473"/>
            <a:ext cx="138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/>
              <a:t>Маршрут 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B7AA6-AEC7-4A01-8FB8-56F45CCF0A52}"/>
              </a:ext>
            </a:extLst>
          </p:cNvPr>
          <p:cNvSpPr txBox="1"/>
          <p:nvPr/>
        </p:nvSpPr>
        <p:spPr>
          <a:xfrm rot="1149460">
            <a:off x="5190800" y="5973587"/>
            <a:ext cx="3095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/>
              <a:t>Маршрут Б</a:t>
            </a:r>
          </a:p>
          <a:p>
            <a:pPr algn="ctr"/>
            <a:r>
              <a:rPr lang="ru-RU" b="1" dirty="0"/>
              <a:t>(нежелательная динамика)</a:t>
            </a:r>
            <a:endParaRPr lang="ru-RU" sz="1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F3E8DF-117D-49C3-8F38-8453AFFE3FBD}"/>
              </a:ext>
            </a:extLst>
          </p:cNvPr>
          <p:cNvSpPr txBox="1"/>
          <p:nvPr/>
        </p:nvSpPr>
        <p:spPr>
          <a:xfrm>
            <a:off x="5995865" y="3386044"/>
            <a:ext cx="2359088" cy="58477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dirty="0" err="1"/>
              <a:t>Контрсценарий</a:t>
            </a:r>
            <a:r>
              <a:rPr lang="ru-RU" sz="1600" dirty="0"/>
              <a:t>: перевод стрелки на маршрут А</a:t>
            </a:r>
          </a:p>
        </p:txBody>
      </p:sp>
    </p:spTree>
    <p:extLst>
      <p:ext uri="{BB962C8B-B14F-4D97-AF65-F5344CB8AC3E}">
        <p14:creationId xmlns:p14="http://schemas.microsoft.com/office/powerpoint/2010/main" val="165536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4527</TotalTime>
  <Words>399</Words>
  <Application>Microsoft Office PowerPoint</Application>
  <PresentationFormat>Произвольный</PresentationFormat>
  <Paragraphs>45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Основы системного анализа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системного анализа</dc:title>
  <dc:creator>Aunafae</dc:creator>
  <cp:lastModifiedBy>ИВАН</cp:lastModifiedBy>
  <cp:revision>227</cp:revision>
  <cp:lastPrinted>2025-12-11T17:44:24Z</cp:lastPrinted>
  <dcterms:created xsi:type="dcterms:W3CDTF">2025-09-24T20:04:47Z</dcterms:created>
  <dcterms:modified xsi:type="dcterms:W3CDTF">2025-12-27T12:44:04Z</dcterms:modified>
</cp:coreProperties>
</file>